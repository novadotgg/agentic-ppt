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we focus on the giant panda, a species that has become a symbol of conservation worldwide. Over the past three decades, the wild panda population has seen a modest but meaningful increase, rising from 1,800 individuals in 1990 to 1,864 in 2021. This growth is largely thanks to China's expansive protected area network, which now safeguards about 70% of the species' habitat. Additionally, the IUCN reclassified the panda from vulnerable to near threatened in 2016, reflecting the positive trajectory. We'll explore these data points and what they mean for future conservation efforts.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the metrics that quantify our progress. First, the wild population stands at 1,864 individuals, a 3% rise since 2016. Habitat coverage remains strong, with 70% of suitable areas protected under national law. Breeding success has improved by 12% annually since 2010, a critical factor for population growth. Finally, the genetic diversity index is 0.78, indicating healthy gene flow across subpopulations. These numbers underscore the effectiveness of current strategies and highlight areas for continued focus.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we have four strategic pillars to secure the panda's future. Habitat restoration involves reforesting 10,000 hectares to enhance connectivity. Community engagement empowers local residents with training and incentives to protect bamboo groves. Technology monitoring uses drones and camera traps to gather real-time movement data. Lastly, policy and funding—international agreements have secured $200 million annually for conservation. Together, these actions form a comprehensive plan to ensure the giant panda thrives for generations to come.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ounded Rectangle 1"/>
          <p:cNvSpPr/>
          <p:nvPr/>
        </p:nvSpPr>
        <p:spPr>
          <a:xfrm>
            <a:off x="1097280" y="1371600"/>
            <a:ext cx="2011680" cy="3657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2563EB"/>
                </a:solidFill>
                <a:latin typeface="Segoe UI"/>
              </a:defRPr>
            </a:pPr>
            <a:r>
              <a:t>EXECUTIVE BRIEFING</a:t>
            </a:r>
          </a:p>
        </p:txBody>
      </p:sp>
      <p:sp>
        <p:nvSpPr>
          <p:cNvPr id="3" name="TextBox 2"/>
          <p:cNvSpPr txBox="1"/>
          <p:nvPr/>
        </p:nvSpPr>
        <p:spPr>
          <a:xfrm>
            <a:off x="1097280" y="2011680"/>
            <a:ext cx="9966960" cy="2926080"/>
          </a:xfrm>
          <a:prstGeom prst="rect">
            <a:avLst/>
          </a:prstGeom>
          <a:noFill/>
        </p:spPr>
        <p:txBody>
          <a:bodyPr wrap="square" lIns="0" rIns="0" tIns="0" bIns="0">
            <a:spAutoFit/>
          </a:bodyPr>
          <a:lstStyle/>
          <a:p>
            <a:pPr>
              <a:spcAft>
                <a:spcPts val="1600"/>
              </a:spcAft>
              <a:defRPr sz="3800" b="1">
                <a:solidFill>
                  <a:srgbClr val="0F172A"/>
                </a:solidFill>
                <a:latin typeface="Segoe UI"/>
              </a:defRPr>
            </a:pPr>
            <a:r>
              <a:t>Pandas: A Flagship Species Driving Global Conservation</a:t>
            </a:r>
          </a:p>
        </p:txBody>
      </p:sp>
      <p:sp>
        <p:nvSpPr>
          <p:cNvPr id="4" name="Rectangle 3"/>
          <p:cNvSpPr/>
          <p:nvPr/>
        </p:nvSpPr>
        <p:spPr>
          <a:xfrm>
            <a:off x="1097280" y="3931920"/>
            <a:ext cx="16459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4206240"/>
            <a:ext cx="9601200" cy="1280160"/>
          </a:xfrm>
          <a:prstGeom prst="rect">
            <a:avLst/>
          </a:prstGeom>
          <a:noFill/>
        </p:spPr>
        <p:txBody>
          <a:bodyPr wrap="square" lIns="0" rIns="0" tIns="0" bIns="0">
            <a:spAutoFit/>
          </a:bodyPr>
          <a:lstStyle/>
          <a:p>
            <a:pPr>
              <a:defRPr sz="1800">
                <a:solidFill>
                  <a:srgbClr val="334155"/>
                </a:solidFill>
                <a:latin typeface="Segoe UI"/>
              </a:defRPr>
            </a:pPr>
            <a:r>
              <a:t>Understanding their status and the progress made.</a:t>
            </a:r>
          </a:p>
        </p:txBody>
      </p:sp>
      <p:sp>
        <p:nvSpPr>
          <p:cNvPr id="6" name="TextBox 5"/>
          <p:cNvSpPr txBox="1"/>
          <p:nvPr/>
        </p:nvSpPr>
        <p:spPr>
          <a:xfrm>
            <a:off x="1097280" y="5852160"/>
            <a:ext cx="7315200" cy="457200"/>
          </a:xfrm>
          <a:prstGeom prst="rect">
            <a:avLst/>
          </a:prstGeom>
          <a:noFill/>
        </p:spPr>
        <p:txBody>
          <a:bodyPr wrap="none" lIns="0" rIns="0" tIns="0" bIns="0">
            <a:spAutoFit/>
          </a:bodyPr>
          <a:lstStyle/>
          <a:p>
            <a:pPr>
              <a:defRPr sz="1000">
                <a:solidFill>
                  <a:srgbClr val="64748B"/>
                </a:solidFill>
                <a:latin typeface="Segoe UI"/>
              </a:defRPr>
            </a:pPr>
            <a:r>
              <a:t>Prepared by Nova PPT Gen  •  Panda Conservation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731520" y="365760"/>
            <a:ext cx="109728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9601200" cy="1097280"/>
          </a:xfrm>
          <a:prstGeom prst="rect">
            <a:avLst/>
          </a:prstGeom>
          <a:noFill/>
        </p:spPr>
        <p:txBody>
          <a:bodyPr wrap="square" lIns="0" rIns="0" tIns="0" bIns="0">
            <a:spAutoFit/>
          </a:bodyPr>
          <a:lstStyle/>
          <a:p>
            <a:pPr>
              <a:defRPr sz="2400" b="1">
                <a:solidFill>
                  <a:srgbClr val="0F172A"/>
                </a:solidFill>
                <a:latin typeface="Segoe UI"/>
              </a:defRPr>
            </a:pPr>
            <a:r>
              <a:t>Key Conservation Metrics Show Positive Trends</a:t>
            </a:r>
          </a:p>
          <a:p>
            <a:pPr>
              <a:spcBef>
                <a:spcPts val="400"/>
              </a:spcBef>
              <a:defRPr sz="1300">
                <a:solidFill>
                  <a:srgbClr val="64748B"/>
                </a:solidFill>
                <a:latin typeface="Segoe UI"/>
              </a:defRPr>
            </a:pPr>
            <a:r>
              <a:t>Numbers that illustrate the success of protection efforts.</a:t>
            </a:r>
          </a:p>
        </p:txBody>
      </p:sp>
      <p:sp>
        <p:nvSpPr>
          <p:cNvPr id="4" name="Rounded Rectangle 3"/>
          <p:cNvSpPr/>
          <p:nvPr/>
        </p:nvSpPr>
        <p:spPr>
          <a:xfrm>
            <a:off x="731520" y="1920240"/>
            <a:ext cx="2510713" cy="4297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365760"/>
          <a:lstStyle/>
          <a:p>
            <a:pPr algn="ctr">
              <a:spcAft>
                <a:spcPts val="1000"/>
              </a:spcAft>
              <a:defRPr sz="3600" b="1">
                <a:solidFill>
                  <a:srgbClr val="2563EB"/>
                </a:solidFill>
                <a:latin typeface="Segoe UI"/>
              </a:defRPr>
            </a:pPr>
            <a:r>
              <a:t>1,864</a:t>
            </a:r>
          </a:p>
          <a:p>
            <a:pPr>
              <a:spcAft>
                <a:spcPts val="1000"/>
              </a:spcAft>
              <a:defRPr sz="1500" b="1">
                <a:solidFill>
                  <a:srgbClr val="0F172A"/>
                </a:solidFill>
                <a:latin typeface="Segoe UI"/>
              </a:defRPr>
            </a:pPr>
            <a:r>
              <a:t>Wild Population</a:t>
            </a:r>
          </a:p>
          <a:p>
            <a:pPr>
              <a:defRPr sz="1200">
                <a:solidFill>
                  <a:srgbClr val="334155"/>
                </a:solidFill>
                <a:latin typeface="Segoe UI"/>
              </a:defRPr>
            </a:pPr>
            <a:r>
              <a:t>1,864 individuals recorded in 2021, a 3% increase from 2016.</a:t>
            </a:r>
          </a:p>
        </p:txBody>
      </p:sp>
      <p:sp>
        <p:nvSpPr>
          <p:cNvPr id="5" name="Rectangle 4"/>
          <p:cNvSpPr/>
          <p:nvPr/>
        </p:nvSpPr>
        <p:spPr>
          <a:xfrm>
            <a:off x="731520" y="1920240"/>
            <a:ext cx="2510713"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470833" y="1920240"/>
            <a:ext cx="2510713" cy="4297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365760"/>
          <a:lstStyle/>
          <a:p>
            <a:pPr algn="ctr">
              <a:spcAft>
                <a:spcPts val="1000"/>
              </a:spcAft>
              <a:defRPr sz="3600" b="1">
                <a:solidFill>
                  <a:srgbClr val="2563EB"/>
                </a:solidFill>
                <a:latin typeface="Segoe UI"/>
              </a:defRPr>
            </a:pPr>
            <a:r>
              <a:t>70%</a:t>
            </a:r>
          </a:p>
          <a:p>
            <a:pPr>
              <a:spcAft>
                <a:spcPts val="1000"/>
              </a:spcAft>
              <a:defRPr sz="1500" b="1">
                <a:solidFill>
                  <a:srgbClr val="0F172A"/>
                </a:solidFill>
                <a:latin typeface="Segoe UI"/>
              </a:defRPr>
            </a:pPr>
            <a:r>
              <a:t>Habitat Coverage</a:t>
            </a:r>
          </a:p>
          <a:p>
            <a:pPr>
              <a:defRPr sz="1200">
                <a:solidFill>
                  <a:srgbClr val="334155"/>
                </a:solidFill>
                <a:latin typeface="Segoe UI"/>
              </a:defRPr>
            </a:pPr>
            <a:r>
              <a:t>70% of suitable habitat protected under national law.</a:t>
            </a:r>
          </a:p>
        </p:txBody>
      </p:sp>
      <p:sp>
        <p:nvSpPr>
          <p:cNvPr id="7" name="Rectangle 6"/>
          <p:cNvSpPr/>
          <p:nvPr/>
        </p:nvSpPr>
        <p:spPr>
          <a:xfrm>
            <a:off x="3470833" y="1920240"/>
            <a:ext cx="2510713"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0147" y="1920240"/>
            <a:ext cx="2510713" cy="4297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365760"/>
          <a:lstStyle/>
          <a:p>
            <a:pPr algn="ctr">
              <a:spcAft>
                <a:spcPts val="1000"/>
              </a:spcAft>
              <a:defRPr sz="3600" b="1">
                <a:solidFill>
                  <a:srgbClr val="2563EB"/>
                </a:solidFill>
                <a:latin typeface="Segoe UI"/>
              </a:defRPr>
            </a:pPr>
            <a:r>
              <a:t>12%</a:t>
            </a:r>
          </a:p>
          <a:p>
            <a:pPr>
              <a:spcAft>
                <a:spcPts val="1000"/>
              </a:spcAft>
              <a:defRPr sz="1500" b="1">
                <a:solidFill>
                  <a:srgbClr val="0F172A"/>
                </a:solidFill>
                <a:latin typeface="Segoe UI"/>
              </a:defRPr>
            </a:pPr>
            <a:r>
              <a:t>Breeding Success</a:t>
            </a:r>
          </a:p>
          <a:p>
            <a:pPr>
              <a:defRPr sz="1200">
                <a:solidFill>
                  <a:srgbClr val="334155"/>
                </a:solidFill>
                <a:latin typeface="Segoe UI"/>
              </a:defRPr>
            </a:pPr>
            <a:r>
              <a:t>Annual breeding success rose 12% since 2010, boosting population.</a:t>
            </a:r>
          </a:p>
        </p:txBody>
      </p:sp>
      <p:sp>
        <p:nvSpPr>
          <p:cNvPr id="9" name="Rectangle 8"/>
          <p:cNvSpPr/>
          <p:nvPr/>
        </p:nvSpPr>
        <p:spPr>
          <a:xfrm>
            <a:off x="6210147" y="1920240"/>
            <a:ext cx="2510713"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949461" y="1920240"/>
            <a:ext cx="2510713" cy="429768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t" wrap="square" lIns="228600" rIns="228600" tIns="365760"/>
          <a:lstStyle/>
          <a:p>
            <a:pPr algn="ctr">
              <a:spcAft>
                <a:spcPts val="1000"/>
              </a:spcAft>
              <a:defRPr sz="3600" b="1">
                <a:solidFill>
                  <a:srgbClr val="2563EB"/>
                </a:solidFill>
                <a:latin typeface="Segoe UI"/>
              </a:defRPr>
            </a:pPr>
            <a:r>
              <a:t>0.78</a:t>
            </a:r>
          </a:p>
          <a:p>
            <a:pPr>
              <a:spcAft>
                <a:spcPts val="1000"/>
              </a:spcAft>
              <a:defRPr sz="1500" b="1">
                <a:solidFill>
                  <a:srgbClr val="0F172A"/>
                </a:solidFill>
                <a:latin typeface="Segoe UI"/>
              </a:defRPr>
            </a:pPr>
            <a:r>
              <a:t>Genetic Diversity</a:t>
            </a:r>
          </a:p>
          <a:p>
            <a:pPr>
              <a:defRPr sz="1200">
                <a:solidFill>
                  <a:srgbClr val="334155"/>
                </a:solidFill>
                <a:latin typeface="Segoe UI"/>
              </a:defRPr>
            </a:pPr>
            <a:r>
              <a:t>Genetic diversity index stands at 0.78, indicating healthy gene flow.</a:t>
            </a:r>
          </a:p>
        </p:txBody>
      </p:sp>
      <p:sp>
        <p:nvSpPr>
          <p:cNvPr id="11" name="Rectangle 10"/>
          <p:cNvSpPr/>
          <p:nvPr/>
        </p:nvSpPr>
        <p:spPr>
          <a:xfrm>
            <a:off x="8949461" y="1920240"/>
            <a:ext cx="2510713"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5F9"/>
        </a:solidFill>
        <a:effectLst/>
      </p:bgPr>
    </p:bg>
    <p:spTree>
      <p:nvGrpSpPr>
        <p:cNvPr id="1" name=""/>
        <p:cNvGrpSpPr/>
        <p:nvPr/>
      </p:nvGrpSpPr>
      <p:grpSpPr/>
      <p:sp>
        <p:nvSpPr>
          <p:cNvPr id="2" name="Rectangle 1"/>
          <p:cNvSpPr/>
          <p:nvPr/>
        </p:nvSpPr>
        <p:spPr>
          <a:xfrm>
            <a:off x="731520" y="365760"/>
            <a:ext cx="109728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9601200" cy="1097280"/>
          </a:xfrm>
          <a:prstGeom prst="rect">
            <a:avLst/>
          </a:prstGeom>
          <a:noFill/>
        </p:spPr>
        <p:txBody>
          <a:bodyPr wrap="square" lIns="0" rIns="0" tIns="0" bIns="0">
            <a:spAutoFit/>
          </a:bodyPr>
          <a:lstStyle/>
          <a:p>
            <a:pPr>
              <a:defRPr sz="2400" b="1">
                <a:solidFill>
                  <a:srgbClr val="0F172A"/>
                </a:solidFill>
                <a:latin typeface="Segoe UI"/>
              </a:defRPr>
            </a:pPr>
            <a:r>
              <a:t>Strategic Actions Securing Panda Future</a:t>
            </a:r>
          </a:p>
          <a:p>
            <a:pPr>
              <a:spcBef>
                <a:spcPts val="400"/>
              </a:spcBef>
              <a:defRPr sz="1300">
                <a:solidFill>
                  <a:srgbClr val="64748B"/>
                </a:solidFill>
                <a:latin typeface="Segoe UI"/>
              </a:defRPr>
            </a:pPr>
            <a:r>
              <a:t>Integrated approaches for habitat, community, tech, and policy.</a:t>
            </a:r>
          </a:p>
        </p:txBody>
      </p:sp>
      <p:sp>
        <p:nvSpPr>
          <p:cNvPr id="4" name="Rounded Rectangle 3"/>
          <p:cNvSpPr/>
          <p:nvPr/>
        </p:nvSpPr>
        <p:spPr>
          <a:xfrm>
            <a:off x="731520" y="1920240"/>
            <a:ext cx="5227167" cy="20345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228600"/>
          <a:lstStyle/>
          <a:p>
            <a:pPr algn="ctr">
              <a:defRPr sz="1500" b="1">
                <a:solidFill>
                  <a:srgbClr val="0F172A"/>
                </a:solidFill>
                <a:latin typeface="Segoe UI"/>
              </a:defRPr>
            </a:pPr>
            <a:r>
              <a:t>01  •  Habitat Restoration</a:t>
            </a:r>
          </a:p>
          <a:p>
            <a:pPr>
              <a:spcBef>
                <a:spcPts val="600"/>
              </a:spcBef>
              <a:defRPr sz="1200">
                <a:solidFill>
                  <a:srgbClr val="334155"/>
                </a:solidFill>
                <a:latin typeface="Segoe UI"/>
              </a:defRPr>
            </a:pPr>
            <a:r>
              <a:t>Reforestation of 10,000 hectares improves connectivity for pandas.</a:t>
            </a:r>
          </a:p>
        </p:txBody>
      </p:sp>
      <p:sp>
        <p:nvSpPr>
          <p:cNvPr id="5" name="Rectangle 4"/>
          <p:cNvSpPr/>
          <p:nvPr/>
        </p:nvSpPr>
        <p:spPr>
          <a:xfrm>
            <a:off x="731520" y="1920240"/>
            <a:ext cx="5227167"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3007" y="1920240"/>
            <a:ext cx="5227167" cy="20345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228600"/>
          <a:lstStyle/>
          <a:p>
            <a:pPr algn="ctr">
              <a:defRPr sz="1500" b="1">
                <a:solidFill>
                  <a:srgbClr val="0F172A"/>
                </a:solidFill>
                <a:latin typeface="Segoe UI"/>
              </a:defRPr>
            </a:pPr>
            <a:r>
              <a:t>02  •  Community Engagement</a:t>
            </a:r>
          </a:p>
          <a:p>
            <a:pPr>
              <a:spcBef>
                <a:spcPts val="600"/>
              </a:spcBef>
              <a:defRPr sz="1200">
                <a:solidFill>
                  <a:srgbClr val="334155"/>
                </a:solidFill>
                <a:latin typeface="Segoe UI"/>
              </a:defRPr>
            </a:pPr>
            <a:r>
              <a:t>Local communities receive training and incentives to protect bamboo groves.</a:t>
            </a:r>
          </a:p>
        </p:txBody>
      </p:sp>
      <p:sp>
        <p:nvSpPr>
          <p:cNvPr id="7" name="Rectangle 6"/>
          <p:cNvSpPr/>
          <p:nvPr/>
        </p:nvSpPr>
        <p:spPr>
          <a:xfrm>
            <a:off x="6233007" y="1920240"/>
            <a:ext cx="5227167"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4183380"/>
            <a:ext cx="5227167" cy="20345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228600"/>
          <a:lstStyle/>
          <a:p>
            <a:pPr algn="ctr">
              <a:defRPr sz="1500" b="1">
                <a:solidFill>
                  <a:srgbClr val="0F172A"/>
                </a:solidFill>
                <a:latin typeface="Segoe UI"/>
              </a:defRPr>
            </a:pPr>
            <a:r>
              <a:t>03  •  Technology Monitoring</a:t>
            </a:r>
          </a:p>
          <a:p>
            <a:pPr>
              <a:spcBef>
                <a:spcPts val="600"/>
              </a:spcBef>
              <a:defRPr sz="1200">
                <a:solidFill>
                  <a:srgbClr val="334155"/>
                </a:solidFill>
                <a:latin typeface="Segoe UI"/>
              </a:defRPr>
            </a:pPr>
            <a:r>
              <a:t>Drone and camera traps provide real-time data on panda movements.</a:t>
            </a:r>
          </a:p>
        </p:txBody>
      </p:sp>
      <p:sp>
        <p:nvSpPr>
          <p:cNvPr id="9" name="Rectangle 8"/>
          <p:cNvSpPr/>
          <p:nvPr/>
        </p:nvSpPr>
        <p:spPr>
          <a:xfrm>
            <a:off x="731520" y="4183380"/>
            <a:ext cx="5227167"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33007" y="4183380"/>
            <a:ext cx="5227167" cy="20345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20040" rIns="228600"/>
          <a:lstStyle/>
          <a:p>
            <a:pPr algn="ctr">
              <a:defRPr sz="1500" b="1">
                <a:solidFill>
                  <a:srgbClr val="0F172A"/>
                </a:solidFill>
                <a:latin typeface="Segoe UI"/>
              </a:defRPr>
            </a:pPr>
            <a:r>
              <a:t>04  •  Policy &amp; Funding</a:t>
            </a:r>
          </a:p>
          <a:p>
            <a:pPr>
              <a:spcBef>
                <a:spcPts val="600"/>
              </a:spcBef>
              <a:defRPr sz="1200">
                <a:solidFill>
                  <a:srgbClr val="334155"/>
                </a:solidFill>
                <a:latin typeface="Segoe UI"/>
              </a:defRPr>
            </a:pPr>
            <a:r>
              <a:t>International agreements secure $200M annually for panda conservation.</a:t>
            </a:r>
          </a:p>
        </p:txBody>
      </p:sp>
      <p:sp>
        <p:nvSpPr>
          <p:cNvPr id="11" name="Rectangle 10"/>
          <p:cNvSpPr/>
          <p:nvPr/>
        </p:nvSpPr>
        <p:spPr>
          <a:xfrm>
            <a:off x="6233007" y="4183380"/>
            <a:ext cx="5227167"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