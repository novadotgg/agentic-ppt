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by highlighting how pandas are not just a symbol but a financial engine for conservation. Emphasize the $1.2B eco‑tourism revenue and the 12% population increase. Conclude with the 18% funding surge, underscoring the growing investment in panda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timeline of major milestones. Explain how the Wolong sanctuary set a precedent and how the 2016 Act broadened legal safeguards. Highlight the 35% habitat expansion as evidence of tangible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a concise data snapshot. Stress the 1,864 wild individuals and the 1.2 million hectares of protection. Discuss the $1.8B research budget and the 78% bamboo sustainability index, linking them to long‑term species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2011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B8860B"/>
                </a:solidFill>
                <a:latin typeface="Segoe UI"/>
              </a:defRPr>
            </a:pPr>
            <a: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1C1917"/>
                </a:solidFill>
                <a:latin typeface="Segoe UI"/>
              </a:defRPr>
            </a:pPr>
            <a:r>
              <a:t>Pandas Drive Conservation Funding: 2024 Global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931920"/>
            <a:ext cx="164592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>
                <a:solidFill>
                  <a:srgbClr val="44403C"/>
                </a:solidFill>
                <a:latin typeface="Segoe UI"/>
              </a:defRPr>
            </a:pPr>
            <a:r>
              <a:t>How the iconic bear fuels research, policy, and public engagement worldwide.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7315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Segoe UI"/>
              </a:defRPr>
            </a:pPr>
            <a:r>
              <a:t>Prepared by Nova PPT Gen  •  Panda Conservation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C1917"/>
                </a:solidFill>
                <a:latin typeface="Segoe UI"/>
              </a:defRPr>
            </a:pPr>
            <a:r>
              <a:t>From Threat to Triumph: Panda Conservation Milestones</a:t>
            </a:r>
          </a:p>
          <a:p>
            <a:pPr>
              <a:spcBef>
                <a:spcPts val="400"/>
              </a:spcBef>
              <a:defRPr sz="1300">
                <a:solidFill>
                  <a:srgbClr val="78716C"/>
                </a:solidFill>
                <a:latin typeface="Segoe UI"/>
              </a:defRPr>
            </a:pPr>
            <a:r>
              <a:t>Key actions that turned a species from endangered to near stable.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2381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B8860B"/>
                </a:solidFill>
                <a:latin typeface="Segoe UI"/>
              </a:defRPr>
            </a:pPr>
            <a:r>
              <a:t>2008</a:t>
            </a:r>
          </a:p>
          <a:p>
            <a:pPr>
              <a:spcAft>
                <a:spcPts val="1000"/>
              </a:spcAft>
              <a:defRPr sz="1500" b="1">
                <a:solidFill>
                  <a:srgbClr val="1C1917"/>
                </a:solidFill>
                <a:latin typeface="Segoe UI"/>
              </a:defRPr>
            </a:pPr>
            <a:r>
              <a:t>Wolong Sanctuary</a:t>
            </a:r>
          </a:p>
          <a:p>
            <a:pPr>
              <a:defRPr sz="1200">
                <a:solidFill>
                  <a:srgbClr val="44403C"/>
                </a:solidFill>
                <a:latin typeface="Segoe UI"/>
              </a:defRPr>
            </a:pPr>
            <a:r>
              <a:t>2008: First panda sanctuary in Wolong, China, opened, marking a new era of protection.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423818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3938" y="1920240"/>
            <a:ext cx="342381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B8860B"/>
                </a:solidFill>
                <a:latin typeface="Segoe UI"/>
              </a:defRPr>
            </a:pPr>
            <a:r>
              <a:t>2016</a:t>
            </a:r>
          </a:p>
          <a:p>
            <a:pPr>
              <a:spcAft>
                <a:spcPts val="1000"/>
              </a:spcAft>
              <a:defRPr sz="1500" b="1">
                <a:solidFill>
                  <a:srgbClr val="1C1917"/>
                </a:solidFill>
                <a:latin typeface="Segoe UI"/>
              </a:defRPr>
            </a:pPr>
            <a:r>
              <a:t>International Protection Act</a:t>
            </a:r>
          </a:p>
          <a:p>
            <a:pPr>
              <a:defRPr sz="1200">
                <a:solidFill>
                  <a:srgbClr val="44403C"/>
                </a:solidFill>
                <a:latin typeface="Segoe UI"/>
              </a:defRPr>
            </a:pPr>
            <a:r>
              <a:t>2016: International Panda Protection Act passed, expanding legal protection to 12 countries.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3938" y="1920240"/>
            <a:ext cx="3423818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6356" y="1920240"/>
            <a:ext cx="342381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B8860B"/>
                </a:solidFill>
                <a:latin typeface="Segoe UI"/>
              </a:defRPr>
            </a:pPr>
            <a:r>
              <a:t>35%</a:t>
            </a:r>
          </a:p>
          <a:p>
            <a:pPr>
              <a:spcAft>
                <a:spcPts val="1000"/>
              </a:spcAft>
              <a:defRPr sz="1500" b="1">
                <a:solidFill>
                  <a:srgbClr val="1C1917"/>
                </a:solidFill>
                <a:latin typeface="Segoe UI"/>
              </a:defRPr>
            </a:pPr>
            <a:r>
              <a:t>Habitat Expansion</a:t>
            </a:r>
          </a:p>
          <a:p>
            <a:pPr>
              <a:defRPr sz="1200">
                <a:solidFill>
                  <a:srgbClr val="44403C"/>
                </a:solidFill>
                <a:latin typeface="Segoe UI"/>
              </a:defRPr>
            </a:pPr>
            <a:r>
              <a:t>Habitat area expanded by 35% between 2000-2020, creating critical corridors.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36356" y="1920240"/>
            <a:ext cx="3423818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C1917"/>
                </a:solidFill>
                <a:latin typeface="Segoe UI"/>
              </a:defRPr>
            </a:pPr>
            <a:r>
              <a:t>Panda Metrics: 2024 Snapshot</a:t>
            </a:r>
          </a:p>
          <a:p>
            <a:pPr>
              <a:spcBef>
                <a:spcPts val="400"/>
              </a:spcBef>
              <a:defRPr sz="1300">
                <a:solidFill>
                  <a:srgbClr val="78716C"/>
                </a:solidFill>
                <a:latin typeface="Segoe UI"/>
              </a:defRPr>
            </a:pPr>
            <a:r>
              <a:t>Key numbers that show progress and remaining challenges.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27167" cy="2034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/>
          <a:lstStyle/>
          <a:p>
            <a:pPr algn="ctr">
              <a:defRPr sz="1500" b="1">
                <a:solidFill>
                  <a:srgbClr val="1C1917"/>
                </a:solidFill>
                <a:latin typeface="Segoe UI"/>
              </a:defRPr>
            </a:pPr>
            <a:r>
              <a:t>01  •  Population</a:t>
            </a:r>
          </a:p>
          <a:p>
            <a:pPr>
              <a:spcBef>
                <a:spcPts val="600"/>
              </a:spcBef>
              <a:defRPr sz="1200">
                <a:solidFill>
                  <a:srgbClr val="44403C"/>
                </a:solidFill>
                <a:latin typeface="Segoe UI"/>
              </a:defRPr>
            </a:pPr>
            <a:r>
              <a:t>Population: 1,864 individuals in wild, a 12% rise from 2010.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227167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920240"/>
            <a:ext cx="5227167" cy="2034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/>
          <a:lstStyle/>
          <a:p>
            <a:pPr algn="ctr">
              <a:defRPr sz="1500" b="1">
                <a:solidFill>
                  <a:srgbClr val="1C1917"/>
                </a:solidFill>
                <a:latin typeface="Segoe UI"/>
              </a:defRPr>
            </a:pPr>
            <a:r>
              <a:t>02  •  Protected Area</a:t>
            </a:r>
          </a:p>
          <a:p>
            <a:pPr>
              <a:spcBef>
                <a:spcPts val="600"/>
              </a:spcBef>
              <a:defRPr sz="1200">
                <a:solidFill>
                  <a:srgbClr val="44403C"/>
                </a:solidFill>
                <a:latin typeface="Segoe UI"/>
              </a:defRPr>
            </a:pPr>
            <a:r>
              <a:t>Protected area: 1.2 million hectares, covering 15% of panda habitat.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920240"/>
            <a:ext cx="5227167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183380"/>
            <a:ext cx="5227167" cy="2034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/>
          <a:lstStyle/>
          <a:p>
            <a:pPr algn="ctr">
              <a:defRPr sz="1500" b="1">
                <a:solidFill>
                  <a:srgbClr val="1C1917"/>
                </a:solidFill>
                <a:latin typeface="Segoe UI"/>
              </a:defRPr>
            </a:pPr>
            <a:r>
              <a:t>03  •  Research Grants</a:t>
            </a:r>
          </a:p>
          <a:p>
            <a:pPr>
              <a:spcBef>
                <a:spcPts val="600"/>
              </a:spcBef>
              <a:defRPr sz="1200">
                <a:solidFill>
                  <a:srgbClr val="44403C"/>
                </a:solidFill>
                <a:latin typeface="Segoe UI"/>
              </a:defRPr>
            </a:pPr>
            <a:r>
              <a:t>Annual research grants: $1.8B, fueling genetics, disease, and climate studies.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83380"/>
            <a:ext cx="5227167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4183380"/>
            <a:ext cx="5227167" cy="2034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/>
          <a:lstStyle/>
          <a:p>
            <a:pPr algn="ctr">
              <a:defRPr sz="1500" b="1">
                <a:solidFill>
                  <a:srgbClr val="1C1917"/>
                </a:solidFill>
                <a:latin typeface="Segoe UI"/>
              </a:defRPr>
            </a:pPr>
            <a:r>
              <a:t>04  •  Bamboo Sustainability</a:t>
            </a:r>
          </a:p>
          <a:p>
            <a:pPr>
              <a:spcBef>
                <a:spcPts val="600"/>
              </a:spcBef>
              <a:defRPr sz="1200">
                <a:solidFill>
                  <a:srgbClr val="44403C"/>
                </a:solidFill>
                <a:latin typeface="Segoe UI"/>
              </a:defRPr>
            </a:pPr>
            <a:r>
              <a:t>Bamboo harvest sustainability index: 78%, indicating healthy forest regeneration.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4183380"/>
            <a:ext cx="5227167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