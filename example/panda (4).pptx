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celebrate a significant milestone in panda conservation. The 15% population increase in 2023 reflects successful habitat expansion and anti-poaching measures. Let's dive into the key drivers behind this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Pandas do more than just charm us; they are keystone species. Their seed dispersal and bamboo growth acceleration have ripple effects across the forest ecosystem. Understanding these roles helps justify continued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illustrate the tangible impact of conservation funding, protected area expansion, community involvement, and genetic health. They guide our next steps and help secure ongoing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2011680" cy="36576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AFAFA"/>
                </a:solidFill>
                <a:latin typeface="Segoe UI"/>
              </a:defRPr>
            </a:pPr>
            <a:r>
              <a:t>Panda Conservation Achieves 15% Population Growth in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1645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D4D4D8"/>
                </a:solidFill>
                <a:latin typeface="Segoe UI"/>
              </a:defRPr>
            </a:pPr>
            <a:r>
              <a:t>A breakthrough in habitat restoration and anti-poaching efforts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Prepared by Nova PPT Gen  •  Panda Conservation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AFAFA"/>
                </a:solidFill>
                <a:latin typeface="Segoe UI"/>
              </a:defRPr>
            </a:pPr>
            <a:r>
              <a:t>Why Pandas Are Critical to Ecosystem Health</a:t>
            </a:r>
          </a:p>
          <a:p>
            <a:pPr>
              <a:spcBef>
                <a:spcPts val="400"/>
              </a:spcBef>
              <a:defRPr sz="1300">
                <a:solidFill>
                  <a:srgbClr val="71717A"/>
                </a:solidFill>
                <a:latin typeface="Segoe UI"/>
              </a:defRPr>
            </a:pPr>
            <a:r>
              <a:t>Their role in seed dispersal and forest regeneration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10713" cy="429768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EF4444"/>
                </a:solidFill>
                <a:latin typeface="Segoe UI"/>
              </a:defRPr>
            </a:pPr>
            <a:r>
              <a:t>2</a:t>
            </a:r>
          </a:p>
          <a:p>
            <a:pPr>
              <a:spcAft>
                <a:spcPts val="1000"/>
              </a:spcAft>
              <a:defRPr sz="1500" b="1">
                <a:solidFill>
                  <a:srgbClr val="FAFAFA"/>
                </a:solidFill>
                <a:latin typeface="Segoe UI"/>
              </a:defRPr>
            </a:pPr>
            <a:r>
              <a:t>Seed Dispersal</a:t>
            </a:r>
          </a:p>
          <a:p>
            <a:pPr>
              <a:defRPr sz="1200">
                <a:solidFill>
                  <a:srgbClr val="D4D4D8"/>
                </a:solidFill>
                <a:latin typeface="Segoe UI"/>
              </a:defRPr>
            </a:pPr>
            <a:r>
              <a:t>Pandas move bamboo seeds up to 2 km, expanding forest reach.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0713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1920240"/>
            <a:ext cx="2510713" cy="429768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EF4444"/>
                </a:solidFill>
                <a:latin typeface="Segoe UI"/>
              </a:defRPr>
            </a:pPr>
            <a:r>
              <a:t>30%</a:t>
            </a:r>
          </a:p>
          <a:p>
            <a:pPr>
              <a:spcAft>
                <a:spcPts val="1000"/>
              </a:spcAft>
              <a:defRPr sz="1500" b="1">
                <a:solidFill>
                  <a:srgbClr val="FAFAFA"/>
                </a:solidFill>
                <a:latin typeface="Segoe UI"/>
              </a:defRPr>
            </a:pPr>
            <a:r>
              <a:t>Bamboo Regeneration</a:t>
            </a:r>
          </a:p>
          <a:p>
            <a:pPr>
              <a:defRPr sz="1200">
                <a:solidFill>
                  <a:srgbClr val="D4D4D8"/>
                </a:solidFill>
                <a:latin typeface="Segoe UI"/>
              </a:defRPr>
            </a:pPr>
            <a:r>
              <a:t>Panda activity accelerates bamboo growth by 30% compared to untouched plots.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0833" y="1920240"/>
            <a:ext cx="2510713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1920240"/>
            <a:ext cx="2510713" cy="429768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EF4444"/>
                </a:solidFill>
                <a:latin typeface="Segoe UI"/>
              </a:defRPr>
            </a:pPr>
            <a:r>
              <a:t>2.5</a:t>
            </a:r>
          </a:p>
          <a:p>
            <a:pPr>
              <a:spcAft>
                <a:spcPts val="1000"/>
              </a:spcAft>
              <a:defRPr sz="1500" b="1">
                <a:solidFill>
                  <a:srgbClr val="FAFAFA"/>
                </a:solidFill>
                <a:latin typeface="Segoe UI"/>
              </a:defRPr>
            </a:pPr>
            <a:r>
              <a:t>Carbon Sequestration</a:t>
            </a:r>
          </a:p>
          <a:p>
            <a:pPr>
              <a:defRPr sz="1200">
                <a:solidFill>
                  <a:srgbClr val="D4D4D8"/>
                </a:solidFill>
                <a:latin typeface="Segoe UI"/>
              </a:defRPr>
            </a:pPr>
            <a:r>
              <a:t>Bamboo forests sequester 2.5 tons CO₂ per hectare annually.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920240"/>
            <a:ext cx="2510713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1920240"/>
            <a:ext cx="2510713" cy="429768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EF4444"/>
                </a:solidFill>
                <a:latin typeface="Segoe UI"/>
              </a:defRPr>
            </a:pPr>
            <a:r>
              <a:t>70%</a:t>
            </a:r>
          </a:p>
          <a:p>
            <a:pPr>
              <a:spcAft>
                <a:spcPts val="1000"/>
              </a:spcAft>
              <a:defRPr sz="1500" b="1">
                <a:solidFill>
                  <a:srgbClr val="FAFAFA"/>
                </a:solidFill>
                <a:latin typeface="Segoe UI"/>
              </a:defRPr>
            </a:pPr>
            <a:r>
              <a:t>Biodiversity Indicator</a:t>
            </a:r>
          </a:p>
          <a:p>
            <a:pPr>
              <a:defRPr sz="1200">
                <a:solidFill>
                  <a:srgbClr val="D4D4D8"/>
                </a:solidFill>
                <a:latin typeface="Segoe UI"/>
              </a:defRPr>
            </a:pPr>
            <a:r>
              <a:t>Panda presence correlates with 70% of other mammal species in the region.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9461" y="1920240"/>
            <a:ext cx="2510713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AFAFA"/>
                </a:solidFill>
                <a:latin typeface="Segoe UI"/>
              </a:defRPr>
            </a:pPr>
            <a:r>
              <a:t>Key Metrics Driving Panda Recovery</a:t>
            </a:r>
          </a:p>
          <a:p>
            <a:pPr>
              <a:spcBef>
                <a:spcPts val="400"/>
              </a:spcBef>
              <a:defRPr sz="1300">
                <a:solidFill>
                  <a:srgbClr val="71717A"/>
                </a:solidFill>
                <a:latin typeface="Segoe UI"/>
              </a:defRPr>
            </a:pPr>
            <a:r>
              <a:t>Data-backed actions fueling future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27167" cy="20345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01  •  Protected Areas</a:t>
            </a:r>
          </a:p>
          <a:p>
            <a:pPr>
              <a:spcBef>
                <a:spcPts val="600"/>
              </a:spcBef>
              <a:defRPr sz="1200">
                <a:solidFill>
                  <a:srgbClr val="D4D4D8"/>
                </a:solidFill>
                <a:latin typeface="Segoe UI"/>
              </a:defRPr>
            </a:pPr>
            <a:r>
              <a:t>75% of panda habitat now legally protected, reducing habitat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227167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20240"/>
            <a:ext cx="5227167" cy="20345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02  •  Funding</a:t>
            </a:r>
          </a:p>
          <a:p>
            <a:pPr>
              <a:spcBef>
                <a:spcPts val="600"/>
              </a:spcBef>
              <a:defRPr sz="1200">
                <a:solidFill>
                  <a:srgbClr val="D4D4D8"/>
                </a:solidFill>
                <a:latin typeface="Segoe UI"/>
              </a:defRPr>
            </a:pPr>
            <a:r>
              <a:t>$120M invested in 2023 conservation initiatives across China and Myanmar.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920240"/>
            <a:ext cx="5227167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83380"/>
            <a:ext cx="5227167" cy="20345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03  •  Community Engagement</a:t>
            </a:r>
          </a:p>
          <a:p>
            <a:pPr>
              <a:spcBef>
                <a:spcPts val="600"/>
              </a:spcBef>
              <a:defRPr sz="1200">
                <a:solidFill>
                  <a:srgbClr val="D4D4D8"/>
                </a:solidFill>
                <a:latin typeface="Segoe UI"/>
              </a:defRPr>
            </a:pPr>
            <a:r>
              <a:t>1.2 million volunteers patrol protected zones, enhancing anti-poaching coverage.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83380"/>
            <a:ext cx="5227167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4183380"/>
            <a:ext cx="5227167" cy="20345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04  •  Genetic Diversity</a:t>
            </a:r>
          </a:p>
          <a:p>
            <a:pPr>
              <a:spcBef>
                <a:spcPts val="600"/>
              </a:spcBef>
              <a:defRPr sz="1200">
                <a:solidFill>
                  <a:srgbClr val="D4D4D8"/>
                </a:solidFill>
                <a:latin typeface="Segoe UI"/>
              </a:defRPr>
            </a:pPr>
            <a:r>
              <a:t>85% of pandas possess unique mitochondrial haplotypes, ensuring healthy gene 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4183380"/>
            <a:ext cx="5227167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