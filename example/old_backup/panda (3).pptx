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we focus on the giant panda, a species that has become a symbol of conservation worldwide. Over the past three decades, the wild panda population has seen a modest but meaningful increase, rising from 1,800 individuals in 1990 to 1,864 in 2021. This growth is largely thanks to China's expansive protected area network, which now safeguards about 70% of the species' habitat. Additionally, the IUCN reclassified the panda from vulnerable to near threatened in 2016, reflecting the positive trajectory. We'll explore these data points and what they mean for future conservation efforts.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to the metrics that quantify our progress. First, the wild population stands at 1,864 individuals, a 3% rise since 2016. Habitat coverage remains strong, with 70% of suitable areas protected under national law. Breeding success has improved by 12% annually since 2010, a critical factor for population growth. Finally, the genetic diversity index is 0.78, indicating healthy gene flow across subpopulations. These numbers underscore the effectiveness of current strategies and highlight areas for continued focus.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ahead, we have four strategic pillars to secure the panda's future. Habitat restoration involves reforesting 10,000 hectares to enhance connectivity. Community engagement empowers local residents with training and incentives to protect bamboo groves. Technology monitoring uses drones and camera traps to gather real-time movement data. Lastly, policy and funding—international agreements have secured $200 million annually for conservation. Together, these actions form a comprehensive plan to ensure the giant panda thrives for generations to come.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ounded Rectangle 1"/>
          <p:cNvSpPr/>
          <p:nvPr/>
        </p:nvSpPr>
        <p:spPr>
          <a:xfrm>
            <a:off x="1097280" y="1371600"/>
            <a:ext cx="9997135" cy="4114800"/>
          </a:xfrm>
          <a:prstGeom prst="roundRect">
            <a:avLst/>
          </a:prstGeom>
          <a:solidFill>
            <a:srgbClr val="3B82F6"/>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a:lstStyle/>
          <a:p>
            <a:pPr algn="ctr">
              <a:defRPr sz="1400" b="1">
                <a:solidFill>
                  <a:srgbClr val="2563EB"/>
                </a:solidFill>
                <a:latin typeface="Inter"/>
              </a:defRPr>
            </a:pPr>
            <a:r>
              <a:t>PRESENTATION</a:t>
            </a:r>
          </a:p>
          <a:p>
            <a:pPr algn="ctr">
              <a:spcBef>
                <a:spcPts val="1200"/>
              </a:spcBef>
              <a:defRPr sz="3800" b="1">
                <a:solidFill>
                  <a:srgbClr val="2563EB"/>
                </a:solidFill>
                <a:latin typeface="Inter"/>
              </a:defRPr>
            </a:pPr>
            <a:r>
              <a:t>Pandas: A Flagship Species Driving Global Conservation</a:t>
            </a:r>
          </a:p>
          <a:p>
            <a:pPr algn="ctr">
              <a:spcBef>
                <a:spcPts val="1400"/>
              </a:spcBef>
              <a:defRPr sz="1800">
                <a:solidFill>
                  <a:srgbClr val="334155"/>
                </a:solidFill>
                <a:latin typeface="Inter"/>
              </a:defRPr>
            </a:pPr>
            <a:r>
              <a:t>Understanding their status and the progress made.</a:t>
            </a:r>
          </a:p>
        </p:txBody>
      </p:sp>
      <p:sp>
        <p:nvSpPr>
          <p:cNvPr id="3" name="Rounded Rectangle 2"/>
          <p:cNvSpPr/>
          <p:nvPr/>
        </p:nvSpPr>
        <p:spPr>
          <a:xfrm>
            <a:off x="10515600" y="457200"/>
            <a:ext cx="1005840" cy="411480"/>
          </a:xfrm>
          <a:prstGeom prst="roundRect">
            <a:avLst/>
          </a:prstGeom>
          <a:solidFill>
            <a:srgbClr val="3B82F6"/>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563EB"/>
                </a:solidFill>
                <a:latin typeface="Inter"/>
              </a:defRPr>
            </a:pPr>
            <a:r>
              <a:t>LOGO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731520" y="365760"/>
            <a:ext cx="109728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9601200" cy="1005840"/>
          </a:xfrm>
          <a:prstGeom prst="rect">
            <a:avLst/>
          </a:prstGeom>
          <a:noFill/>
        </p:spPr>
        <p:txBody>
          <a:bodyPr wrap="square" lIns="0" tIns="0" rIns="0" bIns="0">
            <a:spAutoFit/>
          </a:bodyPr>
          <a:lstStyle/>
          <a:p>
            <a:pPr>
              <a:defRPr sz="2600" b="1">
                <a:solidFill>
                  <a:srgbClr val="2563EB"/>
                </a:solidFill>
                <a:latin typeface="Inter"/>
              </a:defRPr>
            </a:pPr>
            <a:r>
              <a:t>Key Conservation Metrics Show Positive Trends</a:t>
            </a:r>
          </a:p>
          <a:p>
            <a:pPr>
              <a:spcBef>
                <a:spcPts val="400"/>
              </a:spcBef>
              <a:defRPr sz="1400">
                <a:solidFill>
                  <a:srgbClr val="2563EB"/>
                </a:solidFill>
                <a:latin typeface="Inter"/>
              </a:defRPr>
            </a:pPr>
            <a:r>
              <a:t>Numbers that illustrate the success of protection efforts.</a:t>
            </a:r>
          </a:p>
        </p:txBody>
      </p:sp>
      <p:sp>
        <p:nvSpPr>
          <p:cNvPr id="4" name="Rounded Rectangle 3"/>
          <p:cNvSpPr/>
          <p:nvPr/>
        </p:nvSpPr>
        <p:spPr>
          <a:xfrm>
            <a:off x="10515600" y="457200"/>
            <a:ext cx="1005840" cy="411480"/>
          </a:xfrm>
          <a:prstGeom prst="roundRect">
            <a:avLst/>
          </a:prstGeom>
          <a:solidFill>
            <a:srgbClr val="3B82F6"/>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563EB"/>
                </a:solidFill>
                <a:latin typeface="Inter"/>
              </a:defRPr>
            </a:pPr>
            <a:r>
              <a:t>LOGO</a:t>
            </a:r>
          </a:p>
        </p:txBody>
      </p:sp>
      <p:sp>
        <p:nvSpPr>
          <p:cNvPr id="5" name="Rounded Rectangle 4"/>
          <p:cNvSpPr/>
          <p:nvPr/>
        </p:nvSpPr>
        <p:spPr>
          <a:xfrm>
            <a:off x="731520" y="1828800"/>
            <a:ext cx="6858000" cy="960120"/>
          </a:xfrm>
          <a:prstGeom prst="roundRect">
            <a:avLst/>
          </a:prstGeom>
          <a:solidFill>
            <a:srgbClr val="3B82F6"/>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defRPr sz="1600" b="1">
                <a:solidFill>
                  <a:srgbClr val="2563EB"/>
                </a:solidFill>
                <a:latin typeface="Inter"/>
              </a:defRPr>
            </a:pPr>
            <a:r>
              <a:t>•  Wild Population</a:t>
            </a:r>
          </a:p>
          <a:p>
            <a:pPr>
              <a:spcBef>
                <a:spcPts val="300"/>
              </a:spcBef>
              <a:defRPr sz="1300">
                <a:solidFill>
                  <a:srgbClr val="334155"/>
                </a:solidFill>
                <a:latin typeface="Inter"/>
              </a:defRPr>
            </a:pPr>
            <a:r>
              <a:t>1,864 individuals recorded in 2021, a 3% increase from 2016.</a:t>
            </a:r>
          </a:p>
        </p:txBody>
      </p:sp>
      <p:sp>
        <p:nvSpPr>
          <p:cNvPr id="6" name="Rounded Rectangle 5"/>
          <p:cNvSpPr/>
          <p:nvPr/>
        </p:nvSpPr>
        <p:spPr>
          <a:xfrm>
            <a:off x="731520" y="2971800"/>
            <a:ext cx="6858000" cy="960120"/>
          </a:xfrm>
          <a:prstGeom prst="roundRect">
            <a:avLst/>
          </a:prstGeom>
          <a:solidFill>
            <a:srgbClr val="3B82F6"/>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defRPr sz="1600" b="1">
                <a:solidFill>
                  <a:srgbClr val="2563EB"/>
                </a:solidFill>
                <a:latin typeface="Inter"/>
              </a:defRPr>
            </a:pPr>
            <a:r>
              <a:t>•  Habitat Coverage</a:t>
            </a:r>
          </a:p>
          <a:p>
            <a:pPr>
              <a:spcBef>
                <a:spcPts val="300"/>
              </a:spcBef>
              <a:defRPr sz="1300">
                <a:solidFill>
                  <a:srgbClr val="334155"/>
                </a:solidFill>
                <a:latin typeface="Inter"/>
              </a:defRPr>
            </a:pPr>
            <a:r>
              <a:t>70% of suitable habitat protected under national law.</a:t>
            </a:r>
          </a:p>
        </p:txBody>
      </p:sp>
      <p:sp>
        <p:nvSpPr>
          <p:cNvPr id="7" name="Rounded Rectangle 6"/>
          <p:cNvSpPr/>
          <p:nvPr/>
        </p:nvSpPr>
        <p:spPr>
          <a:xfrm>
            <a:off x="731520" y="4114800"/>
            <a:ext cx="6858000" cy="960120"/>
          </a:xfrm>
          <a:prstGeom prst="roundRect">
            <a:avLst/>
          </a:prstGeom>
          <a:solidFill>
            <a:srgbClr val="3B82F6"/>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defRPr sz="1600" b="1">
                <a:solidFill>
                  <a:srgbClr val="2563EB"/>
                </a:solidFill>
                <a:latin typeface="Inter"/>
              </a:defRPr>
            </a:pPr>
            <a:r>
              <a:t>•  Breeding Success</a:t>
            </a:r>
          </a:p>
          <a:p>
            <a:pPr>
              <a:spcBef>
                <a:spcPts val="300"/>
              </a:spcBef>
              <a:defRPr sz="1300">
                <a:solidFill>
                  <a:srgbClr val="334155"/>
                </a:solidFill>
                <a:latin typeface="Inter"/>
              </a:defRPr>
            </a:pPr>
            <a:r>
              <a:t>Annual breeding success rose 12% since 2010, boosting population.</a:t>
            </a:r>
          </a:p>
        </p:txBody>
      </p:sp>
      <p:sp>
        <p:nvSpPr>
          <p:cNvPr id="8" name="Rounded Rectangle 7"/>
          <p:cNvSpPr/>
          <p:nvPr/>
        </p:nvSpPr>
        <p:spPr>
          <a:xfrm>
            <a:off x="731520" y="5257800"/>
            <a:ext cx="6858000" cy="960120"/>
          </a:xfrm>
          <a:prstGeom prst="roundRect">
            <a:avLst/>
          </a:prstGeom>
          <a:solidFill>
            <a:srgbClr val="3B82F6"/>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defRPr sz="1600" b="1">
                <a:solidFill>
                  <a:srgbClr val="2563EB"/>
                </a:solidFill>
                <a:latin typeface="Inter"/>
              </a:defRPr>
            </a:pPr>
            <a:r>
              <a:t>•  Genetic Diversity</a:t>
            </a:r>
          </a:p>
          <a:p>
            <a:pPr>
              <a:spcBef>
                <a:spcPts val="300"/>
              </a:spcBef>
              <a:defRPr sz="1300">
                <a:solidFill>
                  <a:srgbClr val="334155"/>
                </a:solidFill>
                <a:latin typeface="Inter"/>
              </a:defRPr>
            </a:pPr>
            <a:r>
              <a:t>Genetic diversity index stands at 0.78, indicating healthy gene flow.</a:t>
            </a:r>
          </a:p>
        </p:txBody>
      </p:sp>
      <p:sp>
        <p:nvSpPr>
          <p:cNvPr id="9" name="Rounded Rectangle 8"/>
          <p:cNvSpPr/>
          <p:nvPr/>
        </p:nvSpPr>
        <p:spPr>
          <a:xfrm>
            <a:off x="7863840" y="1828800"/>
            <a:ext cx="3596335" cy="4389120"/>
          </a:xfrm>
          <a:prstGeom prst="roundRect">
            <a:avLst/>
          </a:prstGeom>
          <a:solidFill>
            <a:srgbClr val="3B82F6"/>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defRPr sz="1400" b="1">
                <a:solidFill>
                  <a:srgbClr val="2563EB"/>
                </a:solidFill>
                <a:latin typeface="Inter"/>
              </a:defRPr>
            </a:pPr>
            <a:r>
              <a:t>[BAR-CHART]</a:t>
            </a:r>
          </a:p>
          <a:p>
            <a:pPr algn="ctr">
              <a:spcBef>
                <a:spcPts val="800"/>
              </a:spcBef>
              <a:defRPr sz="1200">
                <a:solidFill>
                  <a:srgbClr val="334155"/>
                </a:solidFill>
                <a:latin typeface="Inter"/>
              </a:defRPr>
            </a:pPr>
            <a:r>
              <a:t>Recommended Visual:</a:t>
            </a:r>
            <a:br/>
            <a:r>
              <a:t>"An infographic illustration of a bar chart showing panda population growth, with electric blue bars and subtle blue tint."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731520" y="365760"/>
            <a:ext cx="109728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9601200" cy="1005840"/>
          </a:xfrm>
          <a:prstGeom prst="rect">
            <a:avLst/>
          </a:prstGeom>
          <a:noFill/>
        </p:spPr>
        <p:txBody>
          <a:bodyPr wrap="square" lIns="0" tIns="0" rIns="0" bIns="0">
            <a:spAutoFit/>
          </a:bodyPr>
          <a:lstStyle/>
          <a:p>
            <a:pPr>
              <a:defRPr sz="2600" b="1">
                <a:solidFill>
                  <a:srgbClr val="2563EB"/>
                </a:solidFill>
                <a:latin typeface="Inter"/>
              </a:defRPr>
            </a:pPr>
            <a:r>
              <a:t>Strategic Actions Securing Panda Future</a:t>
            </a:r>
          </a:p>
          <a:p>
            <a:pPr>
              <a:spcBef>
                <a:spcPts val="400"/>
              </a:spcBef>
              <a:defRPr sz="1400">
                <a:solidFill>
                  <a:srgbClr val="2563EB"/>
                </a:solidFill>
                <a:latin typeface="Inter"/>
              </a:defRPr>
            </a:pPr>
            <a:r>
              <a:t>Integrated approaches for habitat, community, tech, and policy.</a:t>
            </a:r>
          </a:p>
        </p:txBody>
      </p:sp>
      <p:sp>
        <p:nvSpPr>
          <p:cNvPr id="4" name="Rounded Rectangle 3"/>
          <p:cNvSpPr/>
          <p:nvPr/>
        </p:nvSpPr>
        <p:spPr>
          <a:xfrm>
            <a:off x="10515600" y="457200"/>
            <a:ext cx="1005840" cy="411480"/>
          </a:xfrm>
          <a:prstGeom prst="roundRect">
            <a:avLst/>
          </a:prstGeom>
          <a:solidFill>
            <a:srgbClr val="3B82F6"/>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563EB"/>
                </a:solidFill>
                <a:latin typeface="Inter"/>
              </a:defRPr>
            </a:pPr>
            <a:r>
              <a:t>LOGO</a:t>
            </a:r>
          </a:p>
        </p:txBody>
      </p:sp>
      <p:sp>
        <p:nvSpPr>
          <p:cNvPr id="5" name="Rounded Rectangle 4"/>
          <p:cNvSpPr/>
          <p:nvPr/>
        </p:nvSpPr>
        <p:spPr>
          <a:xfrm>
            <a:off x="731520" y="1828800"/>
            <a:ext cx="6858000" cy="960120"/>
          </a:xfrm>
          <a:prstGeom prst="roundRect">
            <a:avLst/>
          </a:prstGeom>
          <a:solidFill>
            <a:srgbClr val="3B82F6"/>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defRPr sz="1600" b="1">
                <a:solidFill>
                  <a:srgbClr val="2563EB"/>
                </a:solidFill>
                <a:latin typeface="Inter"/>
              </a:defRPr>
            </a:pPr>
            <a:r>
              <a:t>•  Habitat Restoration</a:t>
            </a:r>
          </a:p>
          <a:p>
            <a:pPr>
              <a:spcBef>
                <a:spcPts val="300"/>
              </a:spcBef>
              <a:defRPr sz="1300">
                <a:solidFill>
                  <a:srgbClr val="334155"/>
                </a:solidFill>
                <a:latin typeface="Inter"/>
              </a:defRPr>
            </a:pPr>
            <a:r>
              <a:t>Reforestation of 10,000 hectares improves connectivity for pandas.</a:t>
            </a:r>
          </a:p>
        </p:txBody>
      </p:sp>
      <p:sp>
        <p:nvSpPr>
          <p:cNvPr id="6" name="Rounded Rectangle 5"/>
          <p:cNvSpPr/>
          <p:nvPr/>
        </p:nvSpPr>
        <p:spPr>
          <a:xfrm>
            <a:off x="731520" y="2971800"/>
            <a:ext cx="6858000" cy="960120"/>
          </a:xfrm>
          <a:prstGeom prst="roundRect">
            <a:avLst/>
          </a:prstGeom>
          <a:solidFill>
            <a:srgbClr val="3B82F6"/>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defRPr sz="1600" b="1">
                <a:solidFill>
                  <a:srgbClr val="2563EB"/>
                </a:solidFill>
                <a:latin typeface="Inter"/>
              </a:defRPr>
            </a:pPr>
            <a:r>
              <a:t>•  Community Engagement</a:t>
            </a:r>
          </a:p>
          <a:p>
            <a:pPr>
              <a:spcBef>
                <a:spcPts val="300"/>
              </a:spcBef>
              <a:defRPr sz="1300">
                <a:solidFill>
                  <a:srgbClr val="334155"/>
                </a:solidFill>
                <a:latin typeface="Inter"/>
              </a:defRPr>
            </a:pPr>
            <a:r>
              <a:t>Local communities receive training and incentives to protect bamboo groves.</a:t>
            </a:r>
          </a:p>
        </p:txBody>
      </p:sp>
      <p:sp>
        <p:nvSpPr>
          <p:cNvPr id="7" name="Rounded Rectangle 6"/>
          <p:cNvSpPr/>
          <p:nvPr/>
        </p:nvSpPr>
        <p:spPr>
          <a:xfrm>
            <a:off x="731520" y="4114800"/>
            <a:ext cx="6858000" cy="960120"/>
          </a:xfrm>
          <a:prstGeom prst="roundRect">
            <a:avLst/>
          </a:prstGeom>
          <a:solidFill>
            <a:srgbClr val="3B82F6"/>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defRPr sz="1600" b="1">
                <a:solidFill>
                  <a:srgbClr val="2563EB"/>
                </a:solidFill>
                <a:latin typeface="Inter"/>
              </a:defRPr>
            </a:pPr>
            <a:r>
              <a:t>•  Technology Monitoring</a:t>
            </a:r>
          </a:p>
          <a:p>
            <a:pPr>
              <a:spcBef>
                <a:spcPts val="300"/>
              </a:spcBef>
              <a:defRPr sz="1300">
                <a:solidFill>
                  <a:srgbClr val="334155"/>
                </a:solidFill>
                <a:latin typeface="Inter"/>
              </a:defRPr>
            </a:pPr>
            <a:r>
              <a:t>Drone and camera traps provide real-time data on panda movements.</a:t>
            </a:r>
          </a:p>
        </p:txBody>
      </p:sp>
      <p:sp>
        <p:nvSpPr>
          <p:cNvPr id="8" name="Rounded Rectangle 7"/>
          <p:cNvSpPr/>
          <p:nvPr/>
        </p:nvSpPr>
        <p:spPr>
          <a:xfrm>
            <a:off x="731520" y="5257800"/>
            <a:ext cx="6858000" cy="960120"/>
          </a:xfrm>
          <a:prstGeom prst="roundRect">
            <a:avLst/>
          </a:prstGeom>
          <a:solidFill>
            <a:srgbClr val="3B82F6"/>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defRPr sz="1600" b="1">
                <a:solidFill>
                  <a:srgbClr val="2563EB"/>
                </a:solidFill>
                <a:latin typeface="Inter"/>
              </a:defRPr>
            </a:pPr>
            <a:r>
              <a:t>•  Policy &amp; Funding</a:t>
            </a:r>
          </a:p>
          <a:p>
            <a:pPr>
              <a:spcBef>
                <a:spcPts val="300"/>
              </a:spcBef>
              <a:defRPr sz="1300">
                <a:solidFill>
                  <a:srgbClr val="334155"/>
                </a:solidFill>
                <a:latin typeface="Inter"/>
              </a:defRPr>
            </a:pPr>
            <a:r>
              <a:t>International agreements secure $200M annually for panda conservation.</a:t>
            </a:r>
          </a:p>
        </p:txBody>
      </p:sp>
      <p:sp>
        <p:nvSpPr>
          <p:cNvPr id="9" name="Rounded Rectangle 8"/>
          <p:cNvSpPr/>
          <p:nvPr/>
        </p:nvSpPr>
        <p:spPr>
          <a:xfrm>
            <a:off x="7863840" y="1828800"/>
            <a:ext cx="3596335" cy="4389120"/>
          </a:xfrm>
          <a:prstGeom prst="roundRect">
            <a:avLst/>
          </a:prstGeom>
          <a:solidFill>
            <a:srgbClr val="3B82F6"/>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defRPr sz="1400" b="1">
                <a:solidFill>
                  <a:srgbClr val="2563EB"/>
                </a:solidFill>
                <a:latin typeface="Inter"/>
              </a:defRPr>
            </a:pPr>
            <a:r>
              <a:t>[GRID]</a:t>
            </a:r>
          </a:p>
          <a:p>
            <a:pPr algn="ctr">
              <a:spcBef>
                <a:spcPts val="800"/>
              </a:spcBef>
              <a:defRPr sz="1200">
                <a:solidFill>
                  <a:srgbClr val="334155"/>
                </a:solidFill>
                <a:latin typeface="Inter"/>
              </a:defRPr>
            </a:pPr>
            <a:r>
              <a:t>Recommended Visual:</a:t>
            </a:r>
            <a:br/>
            <a:r>
              <a:t>"A stylized grid of four icons representing habitat restoration, community engagement, technology monitoring, and policy funding, with clean lines and blue accents."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