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celebrate a significant milestone in panda conservation. The 15% population increase in 2023 reflects successful habitat expansion and anti-poaching measures. Let's dive into the key drivers behind this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Pandas do more than just charm us; they are keystone species. Their seed dispersal and bamboo growth acceleration have ripple effects across the forest ecosystem. Understanding these roles helps justify continued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metrics illustrate the tangible impact of conservation funding, protected area expansion, community involvement, and genetic health. They guide our next steps and help secure ongoing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97135" cy="4114800"/>
          </a:xfrm>
          <a:prstGeom prst="roundRect">
            <a:avLst/>
          </a:prstGeom>
          <a:solidFill>
            <a:srgbClr val="EF444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ctr">
              <a:defRPr sz="1400" b="1">
                <a:solidFill>
                  <a:srgbClr val="DC2626"/>
                </a:solidFill>
                <a:latin typeface="Montserrat Black"/>
              </a:defRPr>
            </a:pPr>
            <a:r>
              <a:t>PRESENTATION</a:t>
            </a:r>
          </a:p>
          <a:p>
            <a:pPr algn="ctr">
              <a:spcBef>
                <a:spcPts val="1200"/>
              </a:spcBef>
              <a:defRPr sz="3800" b="1">
                <a:solidFill>
                  <a:srgbClr val="DC2626"/>
                </a:solidFill>
                <a:latin typeface="Montserrat Black"/>
              </a:defRPr>
            </a:pPr>
            <a:r>
              <a:t>Panda Conservation Achieves 15% Population Growth in 2023</a:t>
            </a:r>
          </a:p>
          <a:p>
            <a:pPr algn="ctr">
              <a:spcBef>
                <a:spcPts val="1400"/>
              </a:spcBef>
              <a:defRPr sz="1800">
                <a:solidFill>
                  <a:srgbClr val="D4D4D4"/>
                </a:solidFill>
                <a:latin typeface="Montserrat Black"/>
              </a:defRPr>
            </a:pPr>
            <a:r>
              <a:t>A breakthrough in habitat restoration and anti-poaching efforts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EF4444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  <a:latin typeface="Montserrat Black"/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C2626"/>
                </a:solidFill>
                <a:latin typeface="Montserrat Black"/>
              </a:defRPr>
            </a:pPr>
            <a:r>
              <a:t>Why Pandas Are Critical to Ecosystem Health</a:t>
            </a:r>
          </a:p>
          <a:p>
            <a:pPr>
              <a:spcBef>
                <a:spcPts val="400"/>
              </a:spcBef>
              <a:defRPr sz="1400">
                <a:solidFill>
                  <a:srgbClr val="DC2626"/>
                </a:solidFill>
                <a:latin typeface="Montserrat Black"/>
              </a:defRPr>
            </a:pPr>
            <a:r>
              <a:t>Their role in seed dispersal and forest regeneration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EF4444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  <a:latin typeface="Montserrat Black"/>
              </a:defRPr>
            </a:pPr>
            <a:r>
              <a:t>LOGO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9601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C2626"/>
                </a:solidFill>
                <a:latin typeface="Montserrat Black"/>
              </a:defRPr>
            </a:pPr>
            <a:r>
              <a:t>•  Seed Dispersal</a:t>
            </a:r>
          </a:p>
          <a:p>
            <a:pPr>
              <a:spcBef>
                <a:spcPts val="300"/>
              </a:spcBef>
              <a:defRPr sz="1300">
                <a:solidFill>
                  <a:srgbClr val="D4D4D4"/>
                </a:solidFill>
                <a:latin typeface="Montserrat Black"/>
              </a:defRPr>
            </a:pPr>
            <a:r>
              <a:t>Pandas move bamboo seeds up to 2 km, expanding forest reach.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6858000" cy="9601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C2626"/>
                </a:solidFill>
                <a:latin typeface="Montserrat Black"/>
              </a:defRPr>
            </a:pPr>
            <a:r>
              <a:t>•  Bamboo Regeneration</a:t>
            </a:r>
          </a:p>
          <a:p>
            <a:pPr>
              <a:spcBef>
                <a:spcPts val="300"/>
              </a:spcBef>
              <a:defRPr sz="1300">
                <a:solidFill>
                  <a:srgbClr val="D4D4D4"/>
                </a:solidFill>
                <a:latin typeface="Montserrat Black"/>
              </a:defRPr>
            </a:pPr>
            <a:r>
              <a:t>Panda activity accelerates bamboo growth by 30% compared to untouched plots.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6858000" cy="9601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C2626"/>
                </a:solidFill>
                <a:latin typeface="Montserrat Black"/>
              </a:defRPr>
            </a:pPr>
            <a:r>
              <a:t>•  Carbon Sequestration</a:t>
            </a:r>
          </a:p>
          <a:p>
            <a:pPr>
              <a:spcBef>
                <a:spcPts val="300"/>
              </a:spcBef>
              <a:defRPr sz="1300">
                <a:solidFill>
                  <a:srgbClr val="D4D4D4"/>
                </a:solidFill>
                <a:latin typeface="Montserrat Black"/>
              </a:defRPr>
            </a:pPr>
            <a:r>
              <a:t>Bamboo forests sequester 2.5 tons CO₂ per hectare annually.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6858000" cy="9601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C2626"/>
                </a:solidFill>
                <a:latin typeface="Montserrat Black"/>
              </a:defRPr>
            </a:pPr>
            <a:r>
              <a:t>•  Biodiversity Indicator</a:t>
            </a:r>
          </a:p>
          <a:p>
            <a:pPr>
              <a:spcBef>
                <a:spcPts val="300"/>
              </a:spcBef>
              <a:defRPr sz="1300">
                <a:solidFill>
                  <a:srgbClr val="D4D4D4"/>
                </a:solidFill>
                <a:latin typeface="Montserrat Black"/>
              </a:defRPr>
            </a:pPr>
            <a:r>
              <a:t>Panda presence correlates with 70% of other mammal species in the region.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596335" cy="43891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DC2626"/>
                </a:solidFill>
                <a:latin typeface="Montserrat Black"/>
              </a:defRPr>
            </a:pPr>
            <a:r>
              <a:t>[LEAF]</a:t>
            </a:r>
          </a:p>
          <a:p>
            <a:pPr algn="ctr">
              <a:spcBef>
                <a:spcPts val="800"/>
              </a:spcBef>
              <a:defRPr sz="1200">
                <a:solidFill>
                  <a:srgbClr val="D4D4D4"/>
                </a:solidFill>
                <a:latin typeface="Montserrat Black"/>
              </a:defRPr>
            </a:pPr>
            <a:r>
              <a:t>Recommended Visual:</a:t>
            </a:r>
            <a:br/>
            <a:r>
              <a:t>"Desaturated black-and-white image of a panda chewing bamboo, red overlay"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C2626"/>
                </a:solidFill>
                <a:latin typeface="Montserrat Black"/>
              </a:defRPr>
            </a:pPr>
            <a:r>
              <a:t>Key Metrics Driving Panda Recovery</a:t>
            </a:r>
          </a:p>
          <a:p>
            <a:pPr>
              <a:spcBef>
                <a:spcPts val="400"/>
              </a:spcBef>
              <a:defRPr sz="1400">
                <a:solidFill>
                  <a:srgbClr val="DC2626"/>
                </a:solidFill>
                <a:latin typeface="Montserrat Black"/>
              </a:defRPr>
            </a:pPr>
            <a:r>
              <a:t>Data-backed actions fueling future success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EF4444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  <a:latin typeface="Montserrat Black"/>
              </a:defRPr>
            </a:pPr>
            <a:r>
              <a:t>LOGO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9601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C2626"/>
                </a:solidFill>
                <a:latin typeface="Montserrat Black"/>
              </a:defRPr>
            </a:pPr>
            <a:r>
              <a:t>•  Protected Areas</a:t>
            </a:r>
          </a:p>
          <a:p>
            <a:pPr>
              <a:spcBef>
                <a:spcPts val="300"/>
              </a:spcBef>
              <a:defRPr sz="1300">
                <a:solidFill>
                  <a:srgbClr val="D4D4D4"/>
                </a:solidFill>
                <a:latin typeface="Montserrat Black"/>
              </a:defRPr>
            </a:pPr>
            <a:r>
              <a:t>75% of panda habitat now legally protected, reducing habitat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6858000" cy="9601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C2626"/>
                </a:solidFill>
                <a:latin typeface="Montserrat Black"/>
              </a:defRPr>
            </a:pPr>
            <a:r>
              <a:t>•  Funding</a:t>
            </a:r>
          </a:p>
          <a:p>
            <a:pPr>
              <a:spcBef>
                <a:spcPts val="300"/>
              </a:spcBef>
              <a:defRPr sz="1300">
                <a:solidFill>
                  <a:srgbClr val="D4D4D4"/>
                </a:solidFill>
                <a:latin typeface="Montserrat Black"/>
              </a:defRPr>
            </a:pPr>
            <a:r>
              <a:t>$120M invested in 2023 conservation initiatives across China and Myanmar.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6858000" cy="9601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C2626"/>
                </a:solidFill>
                <a:latin typeface="Montserrat Black"/>
              </a:defRPr>
            </a:pPr>
            <a:r>
              <a:t>•  Community Engagement</a:t>
            </a:r>
          </a:p>
          <a:p>
            <a:pPr>
              <a:spcBef>
                <a:spcPts val="300"/>
              </a:spcBef>
              <a:defRPr sz="1300">
                <a:solidFill>
                  <a:srgbClr val="D4D4D4"/>
                </a:solidFill>
                <a:latin typeface="Montserrat Black"/>
              </a:defRPr>
            </a:pPr>
            <a:r>
              <a:t>1.2 million volunteers patrol protected zones, enhancing anti-poaching coverage.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6858000" cy="9601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DC2626"/>
                </a:solidFill>
                <a:latin typeface="Montserrat Black"/>
              </a:defRPr>
            </a:pPr>
            <a:r>
              <a:t>•  Genetic Diversity</a:t>
            </a:r>
          </a:p>
          <a:p>
            <a:pPr>
              <a:spcBef>
                <a:spcPts val="300"/>
              </a:spcBef>
              <a:defRPr sz="1300">
                <a:solidFill>
                  <a:srgbClr val="D4D4D4"/>
                </a:solidFill>
                <a:latin typeface="Montserrat Black"/>
              </a:defRPr>
            </a:pPr>
            <a:r>
              <a:t>85% of pandas possess unique mitochondrial haplotypes, ensuring healthy gene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596335" cy="43891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DC2626"/>
                </a:solidFill>
                <a:latin typeface="Montserrat Black"/>
              </a:defRPr>
            </a:pPr>
            <a:r>
              <a:t>[BAR-CHART]</a:t>
            </a:r>
          </a:p>
          <a:p>
            <a:pPr algn="ctr">
              <a:spcBef>
                <a:spcPts val="800"/>
              </a:spcBef>
              <a:defRPr sz="1200">
                <a:solidFill>
                  <a:srgbClr val="D4D4D4"/>
                </a:solidFill>
                <a:latin typeface="Montserrat Black"/>
              </a:defRPr>
            </a:pPr>
            <a:r>
              <a:t>Recommended Visual:</a:t>
            </a:r>
            <a:br/>
            <a:r>
              <a:t>"High-contrast black-and-white infographic of panda population trend, red accent lines"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