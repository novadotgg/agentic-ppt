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we’ll explore how panda conservation has made significant strides. First, we see a 12% increase in wild populations, reaching nearly 1,900 individuals. This growth is tied to expanded protected areas covering 1.2 million hectares, which now protect 65% of the species’ historic range. These numbers show that coordinated protection efforts are paying off, but we still have work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community-driven solutions, local bamboo farms have increased food supply by 30%, directly benefiting panda nutrition. Citizen science initiatives have logged over 5,000 sightings in 2023, giving us better data on distribution. With 78% of local villages participating, community engagement is a powerful lever for conservation.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we set a target of 1,400 pandas by 2030 if current trends continue. Achieving this requires 80% habitat corridor coverage and $200 million annually in funding. These metrics guide our strategic actions and help secure a stable future for the species.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97135" cy="4114800"/>
          </a:xfrm>
          <a:prstGeom prst="roundRect">
            <a:avLst/>
          </a:prstGeom>
          <a:solidFill>
            <a:srgbClr val="34D39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/>
          <a:lstStyle/>
          <a:p>
            <a:pPr algn="ctr">
              <a:defRPr sz="1400" b="1">
                <a:solidFill>
                  <a:srgbClr val="10B981"/>
                </a:solidFill>
                <a:latin typeface="Roboto Mono"/>
              </a:defRPr>
            </a:pPr>
            <a:r>
              <a:t>PRESENTATION</a:t>
            </a:r>
          </a:p>
          <a:p>
            <a:pPr algn="ctr">
              <a:spcBef>
                <a:spcPts val="1200"/>
              </a:spcBef>
              <a:defRPr sz="3800" b="1">
                <a:solidFill>
                  <a:srgbClr val="10B981"/>
                </a:solidFill>
                <a:latin typeface="Roboto Mono"/>
              </a:defRPr>
            </a:pPr>
            <a:r>
              <a:t>Panda Conservation Gains Momentum: 2024 Global Snapshot</a:t>
            </a:r>
          </a:p>
          <a:p>
            <a:pPr algn="ctr">
              <a:spcBef>
                <a:spcPts val="1400"/>
              </a:spcBef>
              <a:defRPr sz="1800">
                <a:solidFill>
                  <a:srgbClr val="94A3B8"/>
                </a:solidFill>
                <a:latin typeface="Roboto Mono"/>
              </a:defRPr>
            </a:pPr>
            <a:r>
              <a:t>Key achievements, threats, and future actions for giant pandas worldwide.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34D39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Roboto Mono"/>
              </a:defRPr>
            </a:pPr>
            <a:r>
              <a:t>LOGO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Roboto Mono"/>
              </a:defRPr>
            </a:pPr>
            <a:r>
              <a:t>From Threat to Triumph: How Community Engagement Drives Panda Recovery</a:t>
            </a:r>
          </a:p>
          <a:p>
            <a:pPr>
              <a:spcBef>
                <a:spcPts val="400"/>
              </a:spcBef>
              <a:defRPr sz="1400">
                <a:solidFill>
                  <a:srgbClr val="10B981"/>
                </a:solidFill>
                <a:latin typeface="Roboto Mono"/>
              </a:defRPr>
            </a:pPr>
            <a:r>
              <a:t>Local initiatives are turning the tide for the endangered species.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34D39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Roboto Mono"/>
              </a:defRPr>
            </a:pPr>
            <a: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13411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10B981"/>
                </a:solidFill>
                <a:latin typeface="Roboto Mono"/>
              </a:defRPr>
            </a:pPr>
            <a:r>
              <a:t>•  Bamboo Farm Impact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Roboto Mono"/>
              </a:defRPr>
            </a:pPr>
            <a:r>
              <a:t>Community farms boosted bamboo supply by 30%, improving panda nutrition.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52800"/>
            <a:ext cx="6858000" cy="13411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10B981"/>
                </a:solidFill>
                <a:latin typeface="Roboto Mono"/>
              </a:defRPr>
            </a:pPr>
            <a:r>
              <a:t>•  Citizen Science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Roboto Mono"/>
              </a:defRPr>
            </a:pPr>
            <a:r>
              <a:t>Over 5,000 sightings logged in 2023, enhancing distribution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76800"/>
            <a:ext cx="6858000" cy="13411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10B981"/>
                </a:solidFill>
                <a:latin typeface="Roboto Mono"/>
              </a:defRPr>
            </a:pPr>
            <a:r>
              <a:t>•  Community Participation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Roboto Mono"/>
              </a:defRPr>
            </a:pPr>
            <a:r>
              <a:t>78% of local villages actively engaged in panda conservation.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596335" cy="438912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10B981"/>
                </a:solidFill>
                <a:latin typeface="Roboto Mono"/>
              </a:defRPr>
            </a:pPr>
            <a:r>
              <a:t>[PEOPLE-COMMUNITY]</a:t>
            </a: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  <a:latin typeface="Roboto Mono"/>
              </a:defRPr>
            </a:pPr>
            <a:r>
              <a:t>Recommended Visual:</a:t>
            </a:r>
            <a:br/>
            <a:r>
              <a:t>"Two contrasting images side by side: left shows deforested area, right shows restored bamboo grove with community workers"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97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Roboto Mono"/>
              </a:defRPr>
            </a:pPr>
            <a:r>
              <a:t>Projected 2030 Outlook: 1,400 pandas in the wild if current trends continue</a:t>
            </a:r>
          </a:p>
          <a:p>
            <a:pPr>
              <a:spcBef>
                <a:spcPts val="400"/>
              </a:spcBef>
              <a:defRPr sz="1400">
                <a:solidFill>
                  <a:srgbClr val="10B981"/>
                </a:solidFill>
                <a:latin typeface="Roboto Mono"/>
              </a:defRPr>
            </a:pPr>
            <a:r>
              <a:t>Strategic actions can secure a stable population.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457200"/>
            <a:ext cx="1005840" cy="411480"/>
          </a:xfrm>
          <a:prstGeom prst="roundRect">
            <a:avLst/>
          </a:prstGeom>
          <a:solidFill>
            <a:srgbClr val="34D39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Roboto Mono"/>
              </a:defRPr>
            </a:pPr>
            <a:r>
              <a:t>LOGO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13411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10B981"/>
                </a:solidFill>
                <a:latin typeface="Roboto Mono"/>
              </a:defRPr>
            </a:pPr>
            <a:r>
              <a:t>•  Population Target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Roboto Mono"/>
              </a:defRPr>
            </a:pPr>
            <a:r>
              <a:t>Aim to reach 1,400 pandas by 2030 under current growth trajectory.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52800"/>
            <a:ext cx="6858000" cy="13411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10B981"/>
                </a:solidFill>
                <a:latin typeface="Roboto Mono"/>
              </a:defRPr>
            </a:pPr>
            <a:r>
              <a:t>•  Habitat Connectivity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Roboto Mono"/>
              </a:defRPr>
            </a:pPr>
            <a:r>
              <a:t>Target 80% corridor coverage linking fragmented panda habitats.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76800"/>
            <a:ext cx="6858000" cy="134112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600" b="1">
                <a:solidFill>
                  <a:srgbClr val="10B981"/>
                </a:solidFill>
                <a:latin typeface="Roboto Mono"/>
              </a:defRPr>
            </a:pPr>
            <a:r>
              <a:t>•  Funding Need</a:t>
            </a:r>
          </a:p>
          <a:p>
            <a:pPr>
              <a:spcBef>
                <a:spcPts val="300"/>
              </a:spcBef>
              <a:defRPr sz="1300">
                <a:solidFill>
                  <a:srgbClr val="94A3B8"/>
                </a:solidFill>
                <a:latin typeface="Roboto Mono"/>
              </a:defRPr>
            </a:pPr>
            <a:r>
              <a:t>$200 million annually required to sustain conservation programs.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596335" cy="438912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400" b="1">
                <a:solidFill>
                  <a:srgbClr val="10B981"/>
                </a:solidFill>
                <a:latin typeface="Roboto Mono"/>
              </a:defRPr>
            </a:pPr>
            <a:r>
              <a:t>[CHART-BAR]</a:t>
            </a: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  <a:latin typeface="Roboto Mono"/>
              </a:defRPr>
            </a:pPr>
            <a:r>
              <a:t>Recommended Visual:</a:t>
            </a:r>
            <a:br/>
            <a:r>
              <a:t>"Infographic of panda population trend line, emerald accent, dark background"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