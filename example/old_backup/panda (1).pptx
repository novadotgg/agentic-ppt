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we’ll see how panda conservation is accelerating. Notice the 12% increase in protected habitat—this is a tangible win for biodiversity. The 8% population growth in 2023 shows that our efforts are paying off. Let’s dive into the numbers and understand the broader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to the economic side—panda tourism is a powerhouse, bringing in $1.2B last year. That’s a 5% increase, showing growing visitor interest. Beyond money, these habitats protect over 200 plant species and sequester carbon, worth $4.5M annually. These figures illustrate how conservation and economy can go hand in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let’s talk policy. The IUCN’s 2024 status change to 'Vulnerable' has unlocked fresh funding streams. The EU-China joint grants surpass $50M, fueling habitat restoration projects. With 15 countries now part of the panda conservation network, we’re seeing unprecedented international cooperation. This momentum is key to sustaining long-term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97135" cy="4114800"/>
          </a:xfrm>
          <a:prstGeom prst="roundRect">
            <a:avLst/>
          </a:prstGeom>
          <a:solidFill>
            <a:srgbClr val="F0C040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ctr">
              <a:defRPr sz="1400" b="1">
                <a:solidFill>
                  <a:srgbClr val="1A3A5C"/>
                </a:solidFill>
                <a:latin typeface="Playfair Display"/>
              </a:defRPr>
            </a:pPr>
            <a:r>
              <a:t>PRESENTATION</a:t>
            </a:r>
          </a:p>
          <a:p>
            <a:pPr algn="ctr">
              <a:spcBef>
                <a:spcPts val="1200"/>
              </a:spcBef>
              <a:defRPr sz="3800" b="1">
                <a:solidFill>
                  <a:srgbClr val="D4A017"/>
                </a:solidFill>
                <a:latin typeface="Playfair Display"/>
              </a:defRPr>
            </a:pPr>
            <a:r>
              <a:t>Panda Conservation Gains Momentum: 2024 Global Snapshot</a:t>
            </a:r>
          </a:p>
          <a:p>
            <a:pPr algn="ctr">
              <a:spcBef>
                <a:spcPts val="1400"/>
              </a:spcBef>
              <a:defRPr sz="1800">
                <a:solidFill>
                  <a:srgbClr val="94A3B8"/>
                </a:solidFill>
                <a:latin typeface="Playfair Display"/>
              </a:defRPr>
            </a:pPr>
            <a:r>
              <a:t>Key metrics and emerging trends driving protection efforts worldwide.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F0C040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017"/>
                </a:solidFill>
                <a:latin typeface="Playfair Display"/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017"/>
                </a:solidFill>
                <a:latin typeface="Playfair Display"/>
              </a:defRPr>
            </a:pPr>
            <a:r>
              <a:t>Economic Value of Pandas: Tourism and Ecosystem Services</a:t>
            </a:r>
          </a:p>
          <a:p>
            <a:pPr>
              <a:spcBef>
                <a:spcPts val="400"/>
              </a:spcBef>
              <a:defRPr sz="1400">
                <a:solidFill>
                  <a:srgbClr val="1A3A5C"/>
                </a:solidFill>
                <a:latin typeface="Playfair Display"/>
              </a:defRPr>
            </a:pPr>
            <a:r>
              <a:t>Pandas generate significant revenue and ecological benefits.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F0C040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017"/>
                </a:solidFill>
                <a:latin typeface="Playfair Display"/>
              </a:defRPr>
            </a:pPr>
            <a:r>
              <a:t>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960120"/>
          </a:xfrm>
          <a:prstGeom prst="round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4A017"/>
                </a:solidFill>
                <a:latin typeface="Playfair Display"/>
              </a:defRPr>
            </a:pPr>
            <a:r>
              <a:t>•  Tourism Revenue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ayfair Display"/>
              </a:defRPr>
            </a:pPr>
            <a:r>
              <a:t>China's panda tourism generated $1.2B in 2023, a 5% rise.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6858000" cy="960120"/>
          </a:xfrm>
          <a:prstGeom prst="round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4A017"/>
                </a:solidFill>
                <a:latin typeface="Playfair Display"/>
              </a:defRPr>
            </a:pPr>
            <a:r>
              <a:t>•  Biodiversity Support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ayfair Display"/>
              </a:defRPr>
            </a:pPr>
            <a:r>
              <a:t>Panda habitats support 200+ plant species, enhancing carbon sequestration.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6858000" cy="960120"/>
          </a:xfrm>
          <a:prstGeom prst="round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4A017"/>
                </a:solidFill>
                <a:latin typeface="Playfair Display"/>
              </a:defRPr>
            </a:pPr>
            <a:r>
              <a:t>•  Annual Visitors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ayfair Display"/>
              </a:defRPr>
            </a:pPr>
            <a:r>
              <a:t>Annual visitor count: 3.5 million to panda reserves.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6858000" cy="960120"/>
          </a:xfrm>
          <a:prstGeom prst="round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4A017"/>
                </a:solidFill>
                <a:latin typeface="Playfair Display"/>
              </a:defRPr>
            </a:pPr>
            <a:r>
              <a:t>•  Carbon Offset Value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ayfair Display"/>
              </a:defRPr>
            </a:pPr>
            <a:r>
              <a:t>Carbon offset value: $4.5M annually from panda ecosystems.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596335" cy="4389120"/>
          </a:xfrm>
          <a:prstGeom prst="roundRect">
            <a:avLst/>
          </a:prstGeom>
          <a:solidFill>
            <a:srgbClr val="F0C04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1A3A5C"/>
                </a:solidFill>
                <a:latin typeface="Playfair Display"/>
              </a:defRPr>
            </a:pPr>
            <a:r>
              <a:t>[BAR-CHART]</a:t>
            </a:r>
          </a:p>
          <a:p>
            <a:pPr algn="ctr">
              <a:spcBef>
                <a:spcPts val="800"/>
              </a:spcBef>
              <a:defRPr sz="1200">
                <a:solidFill>
                  <a:srgbClr val="94A3B8"/>
                </a:solidFill>
                <a:latin typeface="Playfair Display"/>
              </a:defRPr>
            </a:pPr>
            <a:r>
              <a:t>Recommended Visual:</a:t>
            </a:r>
            <a:br/>
            <a:r>
              <a:t>"A vibrant infographic showing panda tourism statistics, with gold accents and navy background, overlaying a subtle bamboo texture."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4A017"/>
                </a:solidFill>
                <a:latin typeface="Playfair Display"/>
              </a:defRPr>
            </a:pPr>
            <a:r>
              <a:t>Policy Momentum: International Collaboration Accelerates</a:t>
            </a:r>
          </a:p>
          <a:p>
            <a:pPr>
              <a:spcBef>
                <a:spcPts val="400"/>
              </a:spcBef>
              <a:defRPr sz="1400">
                <a:solidFill>
                  <a:srgbClr val="1A3A5C"/>
                </a:solidFill>
                <a:latin typeface="Playfair Display"/>
              </a:defRPr>
            </a:pPr>
            <a:r>
              <a:t>Cross-border agreements are strengthening panda conservation.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F0C040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017"/>
                </a:solidFill>
                <a:latin typeface="Playfair Display"/>
              </a:defRPr>
            </a:pPr>
            <a:r>
              <a:t>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1341120"/>
          </a:xfrm>
          <a:prstGeom prst="round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4A017"/>
                </a:solidFill>
                <a:latin typeface="Playfair Display"/>
              </a:defRPr>
            </a:pPr>
            <a:r>
              <a:t>•  IUCN Status Update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ayfair Display"/>
              </a:defRPr>
            </a:pPr>
            <a:r>
              <a:t>IUCN updated panda status to 'Vulnerable' in 2024, prompting new funding.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52800"/>
            <a:ext cx="6858000" cy="1341120"/>
          </a:xfrm>
          <a:prstGeom prst="round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4A017"/>
                </a:solidFill>
                <a:latin typeface="Playfair Display"/>
              </a:defRPr>
            </a:pPr>
            <a:r>
              <a:t>•  EU-China Research Grants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ayfair Display"/>
              </a:defRPr>
            </a:pPr>
            <a:r>
              <a:t>EU-China joint research grants exceed $50M for habitat restoration.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76800"/>
            <a:ext cx="6858000" cy="1341120"/>
          </a:xfrm>
          <a:prstGeom prst="roundRect">
            <a:avLst/>
          </a:prstGeom>
          <a:solidFill>
            <a:srgbClr val="F0C040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4A017"/>
                </a:solidFill>
                <a:latin typeface="Playfair Display"/>
              </a:defRPr>
            </a:pPr>
            <a:r>
              <a:t>•  Global Participation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ayfair Display"/>
              </a:defRPr>
            </a:pPr>
            <a:r>
              <a:t>Number of countries in panda conservation network: 15.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596335" cy="4389120"/>
          </a:xfrm>
          <a:prstGeom prst="roundRect">
            <a:avLst/>
          </a:prstGeom>
          <a:solidFill>
            <a:srgbClr val="F0C04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1A3A5C"/>
                </a:solidFill>
                <a:latin typeface="Playfair Display"/>
              </a:defRPr>
            </a:pPr>
            <a:r>
              <a:t>[GLOBE]</a:t>
            </a:r>
          </a:p>
          <a:p>
            <a:pPr algn="ctr">
              <a:spcBef>
                <a:spcPts val="800"/>
              </a:spcBef>
              <a:defRPr sz="1200">
                <a:solidFill>
                  <a:srgbClr val="94A3B8"/>
                </a:solidFill>
                <a:latin typeface="Playfair Display"/>
              </a:defRPr>
            </a:pPr>
            <a:r>
              <a:t>Recommended Visual:</a:t>
            </a:r>
            <a:br/>
            <a:r>
              <a:t>"A world map highlighting 15 countries involved in panda conservation, with gold lines connecting them, overlaid on a navy background."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