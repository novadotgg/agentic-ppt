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highlighting how pandas are not just a symbol but a financial engine for conservation. Emphasize the $1.2B eco‑tourism revenue and the 12% population increase. Conclude with the 18% funding surge, underscoring the growing investment in panda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timeline of major milestones. Explain how the Wolong sanctuary set a precedent and how the 2016 Act broadened legal safeguards. Highlight the 35% habitat expansion as evidence of tangible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a concise data snapshot. Stress the 1,864 wild individuals and the 1.2 million hectares of protection. Discuss the $1.8B research budget and the 78% bamboo sustainability index, linking them to long‑term species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A07840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ctr">
              <a:defRPr sz="1400" b="1">
                <a:solidFill>
                  <a:srgbClr val="C8A96E"/>
                </a:solidFill>
                <a:latin typeface="Playfair Display"/>
              </a:defRPr>
            </a:pPr>
            <a:r>
              <a:t>PRESENTATION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C8A96E"/>
                </a:solidFill>
                <a:latin typeface="Playfair Display"/>
              </a:defRPr>
            </a:pPr>
            <a:r>
              <a:t>Pandas Drive Conservation Funding: 2024 Global Impact</a:t>
            </a:r>
          </a:p>
          <a:p>
            <a:pPr algn="ctr">
              <a:spcBef>
                <a:spcPts val="1400"/>
              </a:spcBef>
              <a:defRPr sz="1800">
                <a:solidFill>
                  <a:srgbClr val="4A3F35"/>
                </a:solidFill>
                <a:latin typeface="Playfair Display"/>
              </a:defRPr>
            </a:pPr>
            <a:r>
              <a:t>How the iconic bear fuels research, policy, and public engagement worldwide.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A07840"/>
          </a:solidFill>
          <a:ln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8A96E"/>
                </a:solidFill>
                <a:latin typeface="Playfair Display"/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C8A96E"/>
                </a:solidFill>
                <a:latin typeface="Playfair Display"/>
              </a:defRPr>
            </a:pPr>
            <a:r>
              <a:t>From Threat to Triumph: Panda Conservation Milestones</a:t>
            </a:r>
          </a:p>
          <a:p>
            <a:pPr>
              <a:spcBef>
                <a:spcPts val="400"/>
              </a:spcBef>
              <a:defRPr sz="1400">
                <a:solidFill>
                  <a:srgbClr val="C8A96E"/>
                </a:solidFill>
                <a:latin typeface="Playfair Display"/>
              </a:defRPr>
            </a:pPr>
            <a:r>
              <a:t>Key actions that turned a species from endangered to near stable.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A07840"/>
          </a:solidFill>
          <a:ln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8A96E"/>
                </a:solidFill>
                <a:latin typeface="Playfair Display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1341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Wolong Sanctuary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2008: First panda sanctuary in Wolong, China, opened, marking a new era of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52800"/>
            <a:ext cx="6858000" cy="1341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International Protection Act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2016: International Panda Protection Act passed, expanding legal protection to 12 countries.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76800"/>
            <a:ext cx="6858000" cy="1341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Habitat Expansion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Habitat area expanded by 35% between 2000-2020, creating critical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A07840"/>
          </a:solidFill>
          <a:ln w="1270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C8A96E"/>
                </a:solidFill>
                <a:latin typeface="Playfair Display"/>
              </a:defRPr>
            </a:pPr>
            <a:r>
              <a:t>[SHIELD]</a:t>
            </a:r>
          </a:p>
          <a:p>
            <a:pPr algn="ctr">
              <a:spcBef>
                <a:spcPts val="800"/>
              </a:spcBef>
              <a:defRPr sz="1200">
                <a:solidFill>
                  <a:srgbClr val="4A3F35"/>
                </a:solidFill>
                <a:latin typeface="Playfair Display"/>
              </a:defRPr>
            </a:pPr>
            <a:r>
              <a:t>Recommended Visual:</a:t>
            </a:r>
            <a:br/>
            <a:r>
              <a:t>"Illustrated timeline of panda conservation milestones, warm sepia, vintage feel."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C8A96E"/>
                </a:solidFill>
                <a:latin typeface="Playfair Display"/>
              </a:defRPr>
            </a:pPr>
            <a:r>
              <a:t>Panda Metrics: 2024 Snapshot</a:t>
            </a:r>
          </a:p>
          <a:p>
            <a:pPr>
              <a:spcBef>
                <a:spcPts val="400"/>
              </a:spcBef>
              <a:defRPr sz="1400">
                <a:solidFill>
                  <a:srgbClr val="C8A96E"/>
                </a:solidFill>
                <a:latin typeface="Playfair Display"/>
              </a:defRPr>
            </a:pPr>
            <a:r>
              <a:t>Key numbers that show progress and remaining challenges.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A07840"/>
          </a:solidFill>
          <a:ln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8A96E"/>
                </a:solidFill>
                <a:latin typeface="Playfair Display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960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Population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Population: 1,864 individuals in wild, a 12% rise from 2010.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6858000" cy="960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Protected Area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Protected area: 1.2 million hectares, covering 15% of panda habitat.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6858000" cy="960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Research Grants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Annual research grants: $1.8B, fueling genetics, disease, and climate studies.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6858000" cy="960120"/>
          </a:xfrm>
          <a:prstGeom prst="roundRect">
            <a:avLst/>
          </a:prstGeom>
          <a:solidFill>
            <a:srgbClr val="A07840"/>
          </a:solidFill>
          <a:ln>
            <a:solidFill>
              <a:srgbClr val="A07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C8A96E"/>
                </a:solidFill>
                <a:latin typeface="Playfair Display"/>
              </a:defRPr>
            </a:pPr>
            <a:r>
              <a:t>•  Bamboo Sustainability</a:t>
            </a:r>
          </a:p>
          <a:p>
            <a:pPr>
              <a:spcBef>
                <a:spcPts val="300"/>
              </a:spcBef>
              <a:defRPr sz="1300">
                <a:solidFill>
                  <a:srgbClr val="4A3F35"/>
                </a:solidFill>
                <a:latin typeface="Playfair Display"/>
              </a:defRPr>
            </a:pPr>
            <a:r>
              <a:t>Bamboo harvest sustainability index: 78%, indicating healthy forest regeneration.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A07840"/>
          </a:solidFill>
          <a:ln w="1270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C8A96E"/>
                </a:solidFill>
                <a:latin typeface="Playfair Display"/>
              </a:defRPr>
            </a:pPr>
            <a:r>
              <a:t>[BAR-CHART]</a:t>
            </a:r>
          </a:p>
          <a:p>
            <a:pPr algn="ctr">
              <a:spcBef>
                <a:spcPts val="800"/>
              </a:spcBef>
              <a:defRPr sz="1200">
                <a:solidFill>
                  <a:srgbClr val="4A3F35"/>
                </a:solidFill>
                <a:latin typeface="Playfair Display"/>
              </a:defRPr>
            </a:pPr>
            <a:r>
              <a:t>Recommended Visual:</a:t>
            </a:r>
            <a:br/>
            <a:r>
              <a:t>"Infographic of panda metrics, warm sepia, soft vignette edges."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