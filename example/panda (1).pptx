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we’ll see how panda conservation is accelerating. Notice the 12% increase in protected habitat—this is a tangible win for biodiversity. The 8% population growth in 2023 shows that our efforts are paying off. Let’s dive into the numbers and understand the broader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to the economic side—panda tourism is a powerhouse, bringing in $1.2B last year. That’s a 5% increase, showing growing visitor interest. Beyond money, these habitats protect over 200 plant species and sequester carbon, worth $4.5M annually. These figures illustrate how conservation and economy can go hand in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let’s talk policy. The IUCN’s 2024 status change to 'Vulnerable' has unlocked fresh funding streams. The EU-China joint grants surpass $50M, fueling habitat restoration projects. With 15 countries now part of the panda conservation network, we’re seeing unprecedented international cooperation. This momentum is key to sustaining long-term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2011680" cy="365760"/>
          </a:xfrm>
          <a:prstGeom prst="roundRect">
            <a:avLst/>
          </a:prstGeom>
          <a:solidFill>
            <a:srgbClr val="132238"/>
          </a:solidFill>
          <a:ln w="12700">
            <a:solidFill>
              <a:srgbClr val="1F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A017"/>
                </a:solidFill>
                <a:latin typeface="Segoe UI"/>
              </a:defRPr>
            </a:pPr>
            <a: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3800" b="1">
                <a:solidFill>
                  <a:srgbClr val="F8FAFC"/>
                </a:solidFill>
                <a:latin typeface="Segoe UI"/>
              </a:defRPr>
            </a:pPr>
            <a:r>
              <a:t>Panda Conservation Gains Momentum: 2024 Global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931920"/>
            <a:ext cx="16459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Key metrics and emerging trends driving protection efforts worldwide.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7315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Prepared by Nova PPT Gen  •  Panda Conservation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Economic Value of Pandas: Tourism and Ecosystem Services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Pandas generate significant revenue and ecological benefits.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510713" cy="4297680"/>
          </a:xfrm>
          <a:prstGeom prst="roundRect">
            <a:avLst/>
          </a:prstGeom>
          <a:solidFill>
            <a:srgbClr val="132238"/>
          </a:solidFill>
          <a:ln w="12700">
            <a:solidFill>
              <a:srgbClr val="1F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D4A017"/>
                </a:solidFill>
                <a:latin typeface="Segoe UI"/>
              </a:defRPr>
            </a:pPr>
            <a:r>
              <a:t>$1.2B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Tourism Revenue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China's panda tourism generated $1.2B in 2023, a 5% rise.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510713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0833" y="1920240"/>
            <a:ext cx="2510713" cy="4297680"/>
          </a:xfrm>
          <a:prstGeom prst="roundRect">
            <a:avLst/>
          </a:prstGeom>
          <a:solidFill>
            <a:srgbClr val="132238"/>
          </a:solidFill>
          <a:ln w="12700">
            <a:solidFill>
              <a:srgbClr val="1F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D4A017"/>
                </a:solidFill>
                <a:latin typeface="Segoe UI"/>
              </a:defRPr>
            </a:pPr>
            <a:r>
              <a:t>200+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Biodiversity Support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Panda habitats support 200+ plant species, enhancing carbon sequestration.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0833" y="1920240"/>
            <a:ext cx="2510713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147" y="1920240"/>
            <a:ext cx="2510713" cy="4297680"/>
          </a:xfrm>
          <a:prstGeom prst="roundRect">
            <a:avLst/>
          </a:prstGeom>
          <a:solidFill>
            <a:srgbClr val="132238"/>
          </a:solidFill>
          <a:ln w="12700">
            <a:solidFill>
              <a:srgbClr val="1F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D4A017"/>
                </a:solidFill>
                <a:latin typeface="Segoe UI"/>
              </a:defRPr>
            </a:pPr>
            <a:r>
              <a:t>3.5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Annual Visitors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Annual visitor count: 3.5 million to panda reserves.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920240"/>
            <a:ext cx="2510713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49461" y="1920240"/>
            <a:ext cx="2510713" cy="4297680"/>
          </a:xfrm>
          <a:prstGeom prst="roundRect">
            <a:avLst/>
          </a:prstGeom>
          <a:solidFill>
            <a:srgbClr val="132238"/>
          </a:solidFill>
          <a:ln w="12700">
            <a:solidFill>
              <a:srgbClr val="1F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0"/>
          <a:lstStyle/>
          <a:p>
            <a:pPr algn="ctr">
              <a:spcAft>
                <a:spcPts val="1000"/>
              </a:spcAft>
              <a:defRPr sz="3600" b="1">
                <a:solidFill>
                  <a:srgbClr val="D4A017"/>
                </a:solidFill>
                <a:latin typeface="Segoe UI"/>
              </a:defRPr>
            </a:pPr>
            <a:r>
              <a:t>$4.5M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Carbon Offset Value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Carbon offset value: $4.5M annually from panda ecosystems.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49461" y="1920240"/>
            <a:ext cx="2510713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Policy Momentum: International Collaboration Accelerates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Cross-border agreements are strengthening panda conservation.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23818" cy="4297680"/>
          </a:xfrm>
          <a:prstGeom prst="roundRect">
            <a:avLst/>
          </a:prstGeom>
          <a:solidFill>
            <a:srgbClr val="132238"/>
          </a:solidFill>
          <a:ln w="12700">
            <a:solidFill>
              <a:srgbClr val="1F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274320" tIns="411480"/>
          <a:lstStyle/>
          <a:p>
            <a:pPr algn="ctr">
              <a:spcAft>
                <a:spcPts val="800"/>
              </a:spcAft>
              <a:defRPr sz="1000" b="1">
                <a:solidFill>
                  <a:srgbClr val="D4A017"/>
                </a:solidFill>
                <a:latin typeface="Segoe UI"/>
              </a:defRPr>
            </a:pPr>
            <a:r>
              <a:t>KEY TAKEAWAY 01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IUCN Status Update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IUCN updated panda status to 'Vulnerable' in 2024, prompting new funding.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423818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3938" y="1920240"/>
            <a:ext cx="3423818" cy="4297680"/>
          </a:xfrm>
          <a:prstGeom prst="roundRect">
            <a:avLst/>
          </a:prstGeom>
          <a:solidFill>
            <a:srgbClr val="132238"/>
          </a:solidFill>
          <a:ln w="12700">
            <a:solidFill>
              <a:srgbClr val="1F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274320" tIns="411480"/>
          <a:lstStyle/>
          <a:p>
            <a:pPr algn="ctr">
              <a:spcAft>
                <a:spcPts val="800"/>
              </a:spcAft>
              <a:defRPr sz="1000" b="1">
                <a:solidFill>
                  <a:srgbClr val="D4A017"/>
                </a:solidFill>
                <a:latin typeface="Segoe UI"/>
              </a:defRPr>
            </a:pPr>
            <a:r>
              <a:t>KEY TAKEAWAY 02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EU-China Research Grants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EU-China joint research grants exceed $50M for habitat restoration.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3938" y="1920240"/>
            <a:ext cx="3423818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6356" y="1920240"/>
            <a:ext cx="3423818" cy="4297680"/>
          </a:xfrm>
          <a:prstGeom prst="roundRect">
            <a:avLst/>
          </a:prstGeom>
          <a:solidFill>
            <a:srgbClr val="132238"/>
          </a:solidFill>
          <a:ln w="12700">
            <a:solidFill>
              <a:srgbClr val="1F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274320" tIns="411480"/>
          <a:lstStyle/>
          <a:p>
            <a:pPr algn="ctr">
              <a:spcAft>
                <a:spcPts val="800"/>
              </a:spcAft>
              <a:defRPr sz="1000" b="1">
                <a:solidFill>
                  <a:srgbClr val="D4A017"/>
                </a:solidFill>
                <a:latin typeface="Segoe UI"/>
              </a:defRPr>
            </a:pPr>
            <a:r>
              <a:t>KEY TAKEAWAY 03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Global Participation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Number of countries in panda conservation network: 15.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36356" y="1920240"/>
            <a:ext cx="3423818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